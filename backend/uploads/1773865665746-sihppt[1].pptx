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94909D-4222-4AFF-B3E1-B0128A7C313A}" v="12" dt="2025-09-14T16:18:36.83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4660"/>
  </p:normalViewPr>
  <p:slideViewPr>
    <p:cSldViewPr>
      <p:cViewPr>
        <p:scale>
          <a:sx n="50" d="100"/>
          <a:sy n="50" d="100"/>
        </p:scale>
        <p:origin x="-259" y="60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ruvkadam31yt@gmail.com" userId="5a5b8e49879c372f" providerId="LiveId" clId="{B02EEF7D-9F2A-4926-83AD-4CCFDA35943B}"/>
    <pc:docChg chg="undo custSel modSld">
      <pc:chgData name="dhruvkadam31yt@gmail.com" userId="5a5b8e49879c372f" providerId="LiveId" clId="{B02EEF7D-9F2A-4926-83AD-4CCFDA35943B}" dt="2025-09-14T17:32:41.402" v="133" actId="1076"/>
      <pc:docMkLst>
        <pc:docMk/>
      </pc:docMkLst>
      <pc:sldChg chg="addSp modSp mod">
        <pc:chgData name="dhruvkadam31yt@gmail.com" userId="5a5b8e49879c372f" providerId="LiveId" clId="{B02EEF7D-9F2A-4926-83AD-4CCFDA35943B}" dt="2025-09-14T13:46:09.409" v="93" actId="20577"/>
        <pc:sldMkLst>
          <pc:docMk/>
          <pc:sldMk cId="0" sldId="256"/>
        </pc:sldMkLst>
        <pc:spChg chg="mod">
          <ac:chgData name="dhruvkadam31yt@gmail.com" userId="5a5b8e49879c372f" providerId="LiveId" clId="{B02EEF7D-9F2A-4926-83AD-4CCFDA35943B}" dt="2025-09-14T13:46:09.409" v="93" actId="20577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dhruvkadam31yt@gmail.com" userId="5a5b8e49879c372f" providerId="LiveId" clId="{B02EEF7D-9F2A-4926-83AD-4CCFDA35943B}" dt="2025-09-14T13:44:11.435" v="11"/>
          <ac:spMkLst>
            <pc:docMk/>
            <pc:sldMk cId="0" sldId="256"/>
            <ac:spMk id="9" creationId="{485B5520-8709-FE7B-FDB8-62DDF601831F}"/>
          </ac:spMkLst>
        </pc:spChg>
        <pc:spChg chg="add mod">
          <ac:chgData name="dhruvkadam31yt@gmail.com" userId="5a5b8e49879c372f" providerId="LiveId" clId="{B02EEF7D-9F2A-4926-83AD-4CCFDA35943B}" dt="2025-09-14T13:45:07.340" v="37"/>
          <ac:spMkLst>
            <pc:docMk/>
            <pc:sldMk cId="0" sldId="256"/>
            <ac:spMk id="11" creationId="{F894342D-94D7-3A34-DE49-A09E5A073E49}"/>
          </ac:spMkLst>
        </pc:spChg>
        <pc:graphicFrameChg chg="add mod">
          <ac:chgData name="dhruvkadam31yt@gmail.com" userId="5a5b8e49879c372f" providerId="LiveId" clId="{B02EEF7D-9F2A-4926-83AD-4CCFDA35943B}" dt="2025-09-14T13:44:08.475" v="10"/>
          <ac:graphicFrameMkLst>
            <pc:docMk/>
            <pc:sldMk cId="0" sldId="256"/>
            <ac:graphicFrameMk id="8" creationId="{BB101FE6-9636-AD4A-981B-289EA965C03A}"/>
          </ac:graphicFrameMkLst>
        </pc:graphicFrameChg>
        <pc:graphicFrameChg chg="add mod modGraphic">
          <ac:chgData name="dhruvkadam31yt@gmail.com" userId="5a5b8e49879c372f" providerId="LiveId" clId="{B02EEF7D-9F2A-4926-83AD-4CCFDA35943B}" dt="2025-09-14T13:45:06.694" v="36" actId="1076"/>
          <ac:graphicFrameMkLst>
            <pc:docMk/>
            <pc:sldMk cId="0" sldId="256"/>
            <ac:graphicFrameMk id="10" creationId="{00623A04-700C-25B8-D842-DA0BE8A384B6}"/>
          </ac:graphicFrameMkLst>
        </pc:graphicFrameChg>
      </pc:sldChg>
      <pc:sldChg chg="addSp delSp modSp mod">
        <pc:chgData name="dhruvkadam31yt@gmail.com" userId="5a5b8e49879c372f" providerId="LiveId" clId="{B02EEF7D-9F2A-4926-83AD-4CCFDA35943B}" dt="2025-09-14T17:32:41.402" v="133" actId="1076"/>
        <pc:sldMkLst>
          <pc:docMk/>
          <pc:sldMk cId="0" sldId="257"/>
        </pc:sldMkLst>
        <pc:spChg chg="mod">
          <ac:chgData name="dhruvkadam31yt@gmail.com" userId="5a5b8e49879c372f" providerId="LiveId" clId="{B02EEF7D-9F2A-4926-83AD-4CCFDA35943B}" dt="2025-09-14T13:53:33.805" v="104" actId="20577"/>
          <ac:spMkLst>
            <pc:docMk/>
            <pc:sldMk cId="0" sldId="257"/>
            <ac:spMk id="5" creationId="{00000000-0000-0000-0000-000000000000}"/>
          </ac:spMkLst>
        </pc:spChg>
        <pc:spChg chg="del mod">
          <ac:chgData name="dhruvkadam31yt@gmail.com" userId="5a5b8e49879c372f" providerId="LiveId" clId="{B02EEF7D-9F2A-4926-83AD-4CCFDA35943B}" dt="2025-09-14T14:19:02.056" v="113" actId="478"/>
          <ac:spMkLst>
            <pc:docMk/>
            <pc:sldMk cId="0" sldId="257"/>
            <ac:spMk id="15" creationId="{00000000-0000-0000-0000-000000000000}"/>
          </ac:spMkLst>
        </pc:spChg>
        <pc:spChg chg="del">
          <ac:chgData name="dhruvkadam31yt@gmail.com" userId="5a5b8e49879c372f" providerId="LiveId" clId="{B02EEF7D-9F2A-4926-83AD-4CCFDA35943B}" dt="2025-09-14T14:18:57.252" v="111" actId="478"/>
          <ac:spMkLst>
            <pc:docMk/>
            <pc:sldMk cId="0" sldId="257"/>
            <ac:spMk id="18" creationId="{00000000-0000-0000-0000-000000000000}"/>
          </ac:spMkLst>
        </pc:spChg>
        <pc:spChg chg="del">
          <ac:chgData name="dhruvkadam31yt@gmail.com" userId="5a5b8e49879c372f" providerId="LiveId" clId="{B02EEF7D-9F2A-4926-83AD-4CCFDA35943B}" dt="2025-09-14T14:18:59.096" v="112" actId="478"/>
          <ac:spMkLst>
            <pc:docMk/>
            <pc:sldMk cId="0" sldId="257"/>
            <ac:spMk id="19" creationId="{00000000-0000-0000-0000-000000000000}"/>
          </ac:spMkLst>
        </pc:spChg>
        <pc:spChg chg="del">
          <ac:chgData name="dhruvkadam31yt@gmail.com" userId="5a5b8e49879c372f" providerId="LiveId" clId="{B02EEF7D-9F2A-4926-83AD-4CCFDA35943B}" dt="2025-09-14T14:18:55.076" v="110" actId="478"/>
          <ac:spMkLst>
            <pc:docMk/>
            <pc:sldMk cId="0" sldId="257"/>
            <ac:spMk id="20" creationId="{00000000-0000-0000-0000-000000000000}"/>
          </ac:spMkLst>
        </pc:spChg>
        <pc:spChg chg="mod">
          <ac:chgData name="dhruvkadam31yt@gmail.com" userId="5a5b8e49879c372f" providerId="LiveId" clId="{B02EEF7D-9F2A-4926-83AD-4CCFDA35943B}" dt="2025-09-14T14:19:57.055" v="120" actId="14100"/>
          <ac:spMkLst>
            <pc:docMk/>
            <pc:sldMk cId="0" sldId="257"/>
            <ac:spMk id="21" creationId="{00000000-0000-0000-0000-000000000000}"/>
          </ac:spMkLst>
        </pc:spChg>
        <pc:picChg chg="add mod">
          <ac:chgData name="dhruvkadam31yt@gmail.com" userId="5a5b8e49879c372f" providerId="LiveId" clId="{B02EEF7D-9F2A-4926-83AD-4CCFDA35943B}" dt="2025-09-14T17:32:41.402" v="133" actId="1076"/>
          <ac:picMkLst>
            <pc:docMk/>
            <pc:sldMk cId="0" sldId="257"/>
            <ac:picMk id="7" creationId="{7B9267FB-D137-19C1-1665-D6981A7F6E5D}"/>
          </ac:picMkLst>
        </pc:picChg>
        <pc:picChg chg="add del">
          <ac:chgData name="dhruvkadam31yt@gmail.com" userId="5a5b8e49879c372f" providerId="LiveId" clId="{B02EEF7D-9F2A-4926-83AD-4CCFDA35943B}" dt="2025-09-14T15:10:11.778" v="125" actId="21"/>
          <ac:picMkLst>
            <pc:docMk/>
            <pc:sldMk cId="0" sldId="257"/>
            <ac:picMk id="13" creationId="{2FF3752C-0490-73FE-8362-17284ABB1888}"/>
          </ac:picMkLst>
        </pc:picChg>
        <pc:picChg chg="del">
          <ac:chgData name="dhruvkadam31yt@gmail.com" userId="5a5b8e49879c372f" providerId="LiveId" clId="{B02EEF7D-9F2A-4926-83AD-4CCFDA35943B}" dt="2025-09-14T13:46:19.306" v="94" actId="478"/>
          <ac:picMkLst>
            <pc:docMk/>
            <pc:sldMk cId="0" sldId="257"/>
            <ac:picMk id="22" creationId="{E7830AE0-6655-B1D3-0E87-82F11BEBAC3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36D38-0437-42C5-AA05-4C9039991FA3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7069A-2880-4B01-9917-74C8ED643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621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7069A-2880-4B01-9917-74C8ED643A7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521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7069A-2880-4B01-9917-74C8ED643A7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913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rgbClr val="F4834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F4834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0438" y="173647"/>
            <a:ext cx="807847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5699" y="1406538"/>
            <a:ext cx="10344785" cy="2617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rgbClr val="F4834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78717" y="6399265"/>
            <a:ext cx="168909" cy="2514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6780" y="851520"/>
            <a:ext cx="4638675" cy="5155565"/>
            <a:chOff x="5656780" y="851520"/>
            <a:chExt cx="4638675" cy="5155565"/>
          </a:xfrm>
        </p:grpSpPr>
        <p:sp>
          <p:nvSpPr>
            <p:cNvPr id="3" name="object 3"/>
            <p:cNvSpPr/>
            <p:nvPr/>
          </p:nvSpPr>
          <p:spPr>
            <a:xfrm>
              <a:off x="5656780" y="851520"/>
              <a:ext cx="4638675" cy="5155565"/>
            </a:xfrm>
            <a:custGeom>
              <a:avLst/>
              <a:gdLst/>
              <a:ahLst/>
              <a:cxnLst/>
              <a:rect l="l" t="t" r="r" b="b"/>
              <a:pathLst>
                <a:path w="4638675" h="5155565">
                  <a:moveTo>
                    <a:pt x="3518134" y="5154966"/>
                  </a:moveTo>
                  <a:lnTo>
                    <a:pt x="1867290" y="5154966"/>
                  </a:lnTo>
                  <a:lnTo>
                    <a:pt x="1822196" y="5150410"/>
                  </a:lnTo>
                  <a:lnTo>
                    <a:pt x="1778973" y="5137070"/>
                  </a:lnTo>
                  <a:lnTo>
                    <a:pt x="1738182" y="5115445"/>
                  </a:lnTo>
                  <a:lnTo>
                    <a:pt x="1700385" y="5086032"/>
                  </a:lnTo>
                  <a:lnTo>
                    <a:pt x="1666143" y="5049328"/>
                  </a:lnTo>
                  <a:lnTo>
                    <a:pt x="1636018" y="5005830"/>
                  </a:lnTo>
                  <a:lnTo>
                    <a:pt x="1610571" y="4956034"/>
                  </a:lnTo>
                  <a:lnTo>
                    <a:pt x="786932" y="3056698"/>
                  </a:lnTo>
                  <a:lnTo>
                    <a:pt x="769382" y="3010868"/>
                  </a:lnTo>
                  <a:lnTo>
                    <a:pt x="756847" y="2962707"/>
                  </a:lnTo>
                  <a:lnTo>
                    <a:pt x="749326" y="2912992"/>
                  </a:lnTo>
                  <a:lnTo>
                    <a:pt x="746819" y="2862500"/>
                  </a:lnTo>
                  <a:lnTo>
                    <a:pt x="749326" y="2812009"/>
                  </a:lnTo>
                  <a:lnTo>
                    <a:pt x="756847" y="2762294"/>
                  </a:lnTo>
                  <a:lnTo>
                    <a:pt x="769382" y="2714133"/>
                  </a:lnTo>
                  <a:lnTo>
                    <a:pt x="786932" y="2668303"/>
                  </a:lnTo>
                  <a:lnTo>
                    <a:pt x="1118529" y="1903633"/>
                  </a:lnTo>
                  <a:lnTo>
                    <a:pt x="1117622" y="1903126"/>
                  </a:lnTo>
                  <a:lnTo>
                    <a:pt x="1081377" y="1860398"/>
                  </a:lnTo>
                  <a:lnTo>
                    <a:pt x="726239" y="1044306"/>
                  </a:lnTo>
                  <a:lnTo>
                    <a:pt x="713605" y="1004835"/>
                  </a:lnTo>
                  <a:lnTo>
                    <a:pt x="709393" y="962751"/>
                  </a:lnTo>
                  <a:lnTo>
                    <a:pt x="713605" y="920668"/>
                  </a:lnTo>
                  <a:lnTo>
                    <a:pt x="726274" y="881116"/>
                  </a:lnTo>
                  <a:lnTo>
                    <a:pt x="1072139" y="83545"/>
                  </a:lnTo>
                  <a:lnTo>
                    <a:pt x="1092143" y="48673"/>
                  </a:lnTo>
                  <a:lnTo>
                    <a:pt x="1147312" y="5781"/>
                  </a:lnTo>
                  <a:lnTo>
                    <a:pt x="1179950" y="0"/>
                  </a:lnTo>
                  <a:lnTo>
                    <a:pt x="1873246" y="0"/>
                  </a:lnTo>
                  <a:lnTo>
                    <a:pt x="1934826" y="22378"/>
                  </a:lnTo>
                  <a:lnTo>
                    <a:pt x="1979561" y="83545"/>
                  </a:lnTo>
                  <a:lnTo>
                    <a:pt x="1990752" y="109242"/>
                  </a:lnTo>
                  <a:lnTo>
                    <a:pt x="1219285" y="109242"/>
                  </a:lnTo>
                  <a:lnTo>
                    <a:pt x="1190350" y="114368"/>
                  </a:lnTo>
                  <a:lnTo>
                    <a:pt x="1141441" y="152393"/>
                  </a:lnTo>
                  <a:lnTo>
                    <a:pt x="817057" y="890449"/>
                  </a:lnTo>
                  <a:lnTo>
                    <a:pt x="802122" y="962751"/>
                  </a:lnTo>
                  <a:lnTo>
                    <a:pt x="805856" y="1000060"/>
                  </a:lnTo>
                  <a:lnTo>
                    <a:pt x="1123707" y="1742195"/>
                  </a:lnTo>
                  <a:lnTo>
                    <a:pt x="1152198" y="1785779"/>
                  </a:lnTo>
                  <a:lnTo>
                    <a:pt x="1168694" y="1799028"/>
                  </a:lnTo>
                  <a:lnTo>
                    <a:pt x="1125080" y="1899603"/>
                  </a:lnTo>
                  <a:lnTo>
                    <a:pt x="1160404" y="1914701"/>
                  </a:lnTo>
                  <a:lnTo>
                    <a:pt x="1177013" y="1916169"/>
                  </a:lnTo>
                  <a:lnTo>
                    <a:pt x="4270920" y="1916169"/>
                  </a:lnTo>
                  <a:lnTo>
                    <a:pt x="4598492" y="2668303"/>
                  </a:lnTo>
                  <a:lnTo>
                    <a:pt x="4616041" y="2714133"/>
                  </a:lnTo>
                  <a:lnTo>
                    <a:pt x="4628576" y="2762294"/>
                  </a:lnTo>
                  <a:lnTo>
                    <a:pt x="4636097" y="2812009"/>
                  </a:lnTo>
                  <a:lnTo>
                    <a:pt x="4638605" y="2862500"/>
                  </a:lnTo>
                  <a:lnTo>
                    <a:pt x="4636097" y="2912992"/>
                  </a:lnTo>
                  <a:lnTo>
                    <a:pt x="4628576" y="2962707"/>
                  </a:lnTo>
                  <a:lnTo>
                    <a:pt x="4616041" y="3010868"/>
                  </a:lnTo>
                  <a:lnTo>
                    <a:pt x="4598492" y="3056698"/>
                  </a:lnTo>
                  <a:lnTo>
                    <a:pt x="3771288" y="4956034"/>
                  </a:lnTo>
                  <a:lnTo>
                    <a:pt x="3746974" y="5005830"/>
                  </a:lnTo>
                  <a:lnTo>
                    <a:pt x="3717358" y="5049328"/>
                  </a:lnTo>
                  <a:lnTo>
                    <a:pt x="3683251" y="5086032"/>
                  </a:lnTo>
                  <a:lnTo>
                    <a:pt x="3645464" y="5115445"/>
                  </a:lnTo>
                  <a:lnTo>
                    <a:pt x="3604809" y="5137070"/>
                  </a:lnTo>
                  <a:lnTo>
                    <a:pt x="3562095" y="5150410"/>
                  </a:lnTo>
                  <a:lnTo>
                    <a:pt x="3518134" y="5154966"/>
                  </a:lnTo>
                  <a:close/>
                </a:path>
                <a:path w="4638675" h="5155565">
                  <a:moveTo>
                    <a:pt x="2186946" y="559719"/>
                  </a:moveTo>
                  <a:lnTo>
                    <a:pt x="2092099" y="559719"/>
                  </a:lnTo>
                  <a:lnTo>
                    <a:pt x="1928163" y="183308"/>
                  </a:lnTo>
                  <a:lnTo>
                    <a:pt x="1911009" y="152393"/>
                  </a:lnTo>
                  <a:lnTo>
                    <a:pt x="1888504" y="129082"/>
                  </a:lnTo>
                  <a:lnTo>
                    <a:pt x="1862266" y="114368"/>
                  </a:lnTo>
                  <a:lnTo>
                    <a:pt x="1833912" y="109242"/>
                  </a:lnTo>
                  <a:lnTo>
                    <a:pt x="1990752" y="109242"/>
                  </a:lnTo>
                  <a:lnTo>
                    <a:pt x="2186946" y="559719"/>
                  </a:lnTo>
                  <a:close/>
                </a:path>
                <a:path w="4638675" h="5155565">
                  <a:moveTo>
                    <a:pt x="1830974" y="1806926"/>
                  </a:moveTo>
                  <a:lnTo>
                    <a:pt x="1216348" y="1806926"/>
                  </a:lnTo>
                  <a:lnTo>
                    <a:pt x="1208930" y="1806598"/>
                  </a:lnTo>
                  <a:lnTo>
                    <a:pt x="1201624" y="1805624"/>
                  </a:lnTo>
                  <a:lnTo>
                    <a:pt x="1194445" y="1804020"/>
                  </a:lnTo>
                  <a:lnTo>
                    <a:pt x="1187413" y="1801801"/>
                  </a:lnTo>
                  <a:lnTo>
                    <a:pt x="1167512" y="1790676"/>
                  </a:lnTo>
                  <a:lnTo>
                    <a:pt x="1610571" y="768967"/>
                  </a:lnTo>
                  <a:lnTo>
                    <a:pt x="1636018" y="719172"/>
                  </a:lnTo>
                  <a:lnTo>
                    <a:pt x="1666143" y="675674"/>
                  </a:lnTo>
                  <a:lnTo>
                    <a:pt x="1700385" y="638969"/>
                  </a:lnTo>
                  <a:lnTo>
                    <a:pt x="1738182" y="609556"/>
                  </a:lnTo>
                  <a:lnTo>
                    <a:pt x="1778973" y="587931"/>
                  </a:lnTo>
                  <a:lnTo>
                    <a:pt x="1822196" y="574591"/>
                  </a:lnTo>
                  <a:lnTo>
                    <a:pt x="1867290" y="570034"/>
                  </a:lnTo>
                  <a:lnTo>
                    <a:pt x="2097718" y="570034"/>
                  </a:lnTo>
                  <a:lnTo>
                    <a:pt x="2233203" y="881116"/>
                  </a:lnTo>
                  <a:lnTo>
                    <a:pt x="2244403" y="916110"/>
                  </a:lnTo>
                  <a:lnTo>
                    <a:pt x="2248136" y="953418"/>
                  </a:lnTo>
                  <a:lnTo>
                    <a:pt x="2244403" y="990726"/>
                  </a:lnTo>
                  <a:lnTo>
                    <a:pt x="1925225" y="1732862"/>
                  </a:lnTo>
                  <a:lnTo>
                    <a:pt x="1885567" y="1787088"/>
                  </a:lnTo>
                  <a:lnTo>
                    <a:pt x="1830974" y="1806926"/>
                  </a:lnTo>
                  <a:close/>
                </a:path>
                <a:path w="4638675" h="5155565">
                  <a:moveTo>
                    <a:pt x="4270920" y="1916169"/>
                  </a:moveTo>
                  <a:lnTo>
                    <a:pt x="1870308" y="1916169"/>
                  </a:lnTo>
                  <a:lnTo>
                    <a:pt x="1902292" y="1910389"/>
                  </a:lnTo>
                  <a:lnTo>
                    <a:pt x="1931889" y="1893792"/>
                  </a:lnTo>
                  <a:lnTo>
                    <a:pt x="1976623" y="1832626"/>
                  </a:lnTo>
                  <a:lnTo>
                    <a:pt x="2324019" y="1034973"/>
                  </a:lnTo>
                  <a:lnTo>
                    <a:pt x="2336654" y="995502"/>
                  </a:lnTo>
                  <a:lnTo>
                    <a:pt x="2340865" y="953418"/>
                  </a:lnTo>
                  <a:lnTo>
                    <a:pt x="2336654" y="911335"/>
                  </a:lnTo>
                  <a:lnTo>
                    <a:pt x="2324019" y="871862"/>
                  </a:lnTo>
                  <a:lnTo>
                    <a:pt x="2192566" y="570034"/>
                  </a:lnTo>
                  <a:lnTo>
                    <a:pt x="3518134" y="570034"/>
                  </a:lnTo>
                  <a:lnTo>
                    <a:pt x="3562095" y="574591"/>
                  </a:lnTo>
                  <a:lnTo>
                    <a:pt x="3604809" y="587931"/>
                  </a:lnTo>
                  <a:lnTo>
                    <a:pt x="3645464" y="609556"/>
                  </a:lnTo>
                  <a:lnTo>
                    <a:pt x="3683251" y="638969"/>
                  </a:lnTo>
                  <a:lnTo>
                    <a:pt x="3717358" y="675674"/>
                  </a:lnTo>
                  <a:lnTo>
                    <a:pt x="3746974" y="719172"/>
                  </a:lnTo>
                  <a:lnTo>
                    <a:pt x="3771288" y="768967"/>
                  </a:lnTo>
                  <a:lnTo>
                    <a:pt x="4270920" y="1916169"/>
                  </a:lnTo>
                  <a:close/>
                </a:path>
                <a:path w="4638675" h="5155565">
                  <a:moveTo>
                    <a:pt x="673702" y="4239780"/>
                  </a:moveTo>
                  <a:lnTo>
                    <a:pt x="272384" y="4239780"/>
                  </a:lnTo>
                  <a:lnTo>
                    <a:pt x="253491" y="4236434"/>
                  </a:lnTo>
                  <a:lnTo>
                    <a:pt x="221556" y="4211606"/>
                  </a:lnTo>
                  <a:lnTo>
                    <a:pt x="9751" y="3729694"/>
                  </a:lnTo>
                  <a:lnTo>
                    <a:pt x="0" y="3682485"/>
                  </a:lnTo>
                  <a:lnTo>
                    <a:pt x="2437" y="3658125"/>
                  </a:lnTo>
                  <a:lnTo>
                    <a:pt x="209976" y="3173550"/>
                  </a:lnTo>
                  <a:lnTo>
                    <a:pt x="236304" y="3138144"/>
                  </a:lnTo>
                  <a:lnTo>
                    <a:pt x="272384" y="3125190"/>
                  </a:lnTo>
                  <a:lnTo>
                    <a:pt x="673702" y="3125190"/>
                  </a:lnTo>
                  <a:lnTo>
                    <a:pt x="724043" y="3153365"/>
                  </a:lnTo>
                  <a:lnTo>
                    <a:pt x="936336" y="3635276"/>
                  </a:lnTo>
                  <a:lnTo>
                    <a:pt x="946087" y="3682485"/>
                  </a:lnTo>
                  <a:lnTo>
                    <a:pt x="943649" y="3706846"/>
                  </a:lnTo>
                  <a:lnTo>
                    <a:pt x="735244" y="4191421"/>
                  </a:lnTo>
                  <a:lnTo>
                    <a:pt x="709348" y="4226827"/>
                  </a:lnTo>
                  <a:lnTo>
                    <a:pt x="673702" y="4239780"/>
                  </a:lnTo>
                  <a:close/>
                </a:path>
              </a:pathLst>
            </a:custGeom>
            <a:solidFill>
              <a:srgbClr val="7F7F7F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4890" y="1715881"/>
              <a:ext cx="3203509" cy="342623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4279105" y="1226718"/>
            <a:ext cx="24650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Times New Roman"/>
                <a:cs typeface="Times New Roman"/>
              </a:rPr>
              <a:t>TITLE</a:t>
            </a:r>
            <a:r>
              <a:rPr sz="3200" b="1" spc="-125" dirty="0">
                <a:latin typeface="Times New Roman"/>
                <a:cs typeface="Times New Roman"/>
              </a:rPr>
              <a:t> </a:t>
            </a:r>
            <a:r>
              <a:rPr sz="3200" b="1" spc="-35" dirty="0">
                <a:latin typeface="Times New Roman"/>
                <a:cs typeface="Times New Roman"/>
              </a:rPr>
              <a:t>PAGE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20" dirty="0">
                <a:solidFill>
                  <a:srgbClr val="1F497D"/>
                </a:solidFill>
              </a:rPr>
              <a:t>SMART</a:t>
            </a:r>
            <a:r>
              <a:rPr sz="4000" spc="-60" dirty="0">
                <a:solidFill>
                  <a:srgbClr val="1F497D"/>
                </a:solidFill>
              </a:rPr>
              <a:t> </a:t>
            </a:r>
            <a:r>
              <a:rPr sz="4000" spc="90" dirty="0">
                <a:solidFill>
                  <a:srgbClr val="1F497D"/>
                </a:solidFill>
              </a:rPr>
              <a:t>INDIA</a:t>
            </a:r>
            <a:r>
              <a:rPr sz="4000" spc="-60" dirty="0">
                <a:solidFill>
                  <a:srgbClr val="1F497D"/>
                </a:solidFill>
              </a:rPr>
              <a:t> </a:t>
            </a:r>
            <a:r>
              <a:rPr sz="4000" dirty="0">
                <a:solidFill>
                  <a:srgbClr val="1F497D"/>
                </a:solidFill>
              </a:rPr>
              <a:t>HACKATHON</a:t>
            </a:r>
            <a:r>
              <a:rPr sz="4000" spc="-60" dirty="0">
                <a:solidFill>
                  <a:srgbClr val="1F497D"/>
                </a:solidFill>
              </a:rPr>
              <a:t> </a:t>
            </a:r>
            <a:r>
              <a:rPr sz="4000" spc="-35" dirty="0">
                <a:solidFill>
                  <a:srgbClr val="1F497D"/>
                </a:solidFill>
              </a:rPr>
              <a:t>202</a:t>
            </a:r>
            <a:r>
              <a:rPr lang="en-IN" sz="4000" spc="-35" dirty="0">
                <a:solidFill>
                  <a:srgbClr val="1F497D"/>
                </a:solidFill>
              </a:rPr>
              <a:t>5</a:t>
            </a:r>
            <a:endParaRPr sz="4000" dirty="0"/>
          </a:p>
        </p:txBody>
      </p:sp>
      <p:sp>
        <p:nvSpPr>
          <p:cNvPr id="7" name="object 7"/>
          <p:cNvSpPr txBox="1"/>
          <p:nvPr/>
        </p:nvSpPr>
        <p:spPr>
          <a:xfrm>
            <a:off x="455497" y="1899649"/>
            <a:ext cx="5869103" cy="3622017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29235" indent="-216535" algn="just">
              <a:lnSpc>
                <a:spcPct val="100000"/>
              </a:lnSpc>
              <a:spcBef>
                <a:spcPts val="440"/>
              </a:spcBef>
              <a:buFont typeface="Arial"/>
              <a:buChar char="•"/>
              <a:tabLst>
                <a:tab pos="229235" algn="l"/>
              </a:tabLst>
            </a:pP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19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19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sz="19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19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SIH25026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9235" marR="5080" indent="-216535" algn="just">
              <a:lnSpc>
                <a:spcPct val="114999"/>
              </a:lnSpc>
              <a:buFont typeface="Arial"/>
              <a:buChar char="•"/>
              <a:tabLst>
                <a:tab pos="230504" algn="l"/>
              </a:tabLst>
            </a:pP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1900" b="1" spc="4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1900" b="1" spc="4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sz="1900" b="1" spc="4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/>
              <a:t>Develop API code to integrate NAMASTE and or the International Classification of Diseases (ICD-11) via the Traditional Medicine Module 2 (TM2) into existing EMR systems that comply with Electronic Health Record (EHR) Standards for India.</a:t>
            </a:r>
          </a:p>
          <a:p>
            <a:pPr marL="229235" marR="5080" indent="-216535" algn="just">
              <a:lnSpc>
                <a:spcPct val="114999"/>
              </a:lnSpc>
              <a:buFont typeface="Arial"/>
              <a:buChar char="•"/>
              <a:tabLst>
                <a:tab pos="230504" algn="l"/>
              </a:tabLst>
            </a:pP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</a:t>
            </a:r>
            <a:r>
              <a:rPr sz="19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19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MedTech / </a:t>
            </a:r>
            <a:r>
              <a:rPr lang="en-IN" sz="19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BioTech</a:t>
            </a:r>
            <a:r>
              <a:rPr lang="en-IN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HealthTech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9870" indent="-217170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29870" algn="l"/>
              </a:tabLst>
            </a:pP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sz="19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</a:t>
            </a:r>
            <a:r>
              <a:rPr sz="19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9870" indent="-217170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29870" algn="l"/>
              </a:tabLst>
            </a:pPr>
            <a:r>
              <a:rPr sz="19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sz="19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sz="19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19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9870" indent="-21717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29870" algn="l"/>
              </a:tabLst>
            </a:pPr>
            <a:r>
              <a:rPr lang="en-US" sz="19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sz="19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9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(Registered</a:t>
            </a:r>
            <a:r>
              <a:rPr lang="en-US" sz="19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19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portal)</a:t>
            </a:r>
            <a:r>
              <a:rPr lang="en-US" sz="19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9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spc="-3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CodeTech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9586" y="89102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54762"/>
            <a:ext cx="12192000" cy="503555"/>
            <a:chOff x="0" y="6354762"/>
            <a:chExt cx="12192000" cy="5035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77762"/>
              <a:ext cx="12191999" cy="48023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354762"/>
              <a:ext cx="12192000" cy="503555"/>
            </a:xfrm>
            <a:custGeom>
              <a:avLst/>
              <a:gdLst/>
              <a:ahLst/>
              <a:cxnLst/>
              <a:rect l="l" t="t" r="r" b="b"/>
              <a:pathLst>
                <a:path w="12192000" h="503554">
                  <a:moveTo>
                    <a:pt x="12191999" y="503237"/>
                  </a:moveTo>
                  <a:lnTo>
                    <a:pt x="0" y="503237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503237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70438" y="121514"/>
            <a:ext cx="7103746" cy="598713"/>
          </a:xfrm>
          <a:prstGeom prst="rect">
            <a:avLst/>
          </a:prstGeom>
        </p:spPr>
        <p:txBody>
          <a:bodyPr vert="horz" wrap="square" lIns="0" tIns="105243" rIns="0" bIns="0" rtlCol="0">
            <a:spAutoFit/>
          </a:bodyPr>
          <a:lstStyle/>
          <a:p>
            <a:pPr marL="1177925" algn="ctr">
              <a:lnSpc>
                <a:spcPct val="100000"/>
              </a:lnSpc>
              <a:spcBef>
                <a:spcPts val="100"/>
              </a:spcBef>
            </a:pPr>
            <a:r>
              <a:rPr lang="en-US" sz="3200" spc="-25" dirty="0" err="1"/>
              <a:t>AYUSHSetu</a:t>
            </a:r>
            <a:r>
              <a:rPr lang="en-IN" sz="3200" b="0" spc="-85" dirty="0"/>
              <a:t>(</a:t>
            </a:r>
            <a:r>
              <a:rPr lang="hi-IN" sz="3200" dirty="0"/>
              <a:t>आयुषसेतु</a:t>
            </a:r>
            <a:r>
              <a:rPr lang="en-IN" sz="3200" b="0" spc="-85" dirty="0"/>
              <a:t>)</a:t>
            </a:r>
            <a:endParaRPr sz="3200" b="0" spc="25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06704" y="1252987"/>
            <a:ext cx="5222286" cy="4980851"/>
          </a:xfrm>
          <a:prstGeom prst="rect">
            <a:avLst/>
          </a:prstGeom>
          <a:ln w="9524">
            <a:solidFill>
              <a:srgbClr val="1F497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30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L="168910" algn="ctr">
              <a:lnSpc>
                <a:spcPct val="100000"/>
              </a:lnSpc>
            </a:pPr>
            <a:r>
              <a:rPr sz="1300" dirty="0">
                <a:latin typeface="Times New Roman"/>
                <a:cs typeface="Times New Roman"/>
              </a:rPr>
              <a:t>Figure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No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01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-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Use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Case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Diagram</a:t>
            </a:r>
            <a:endParaRPr sz="1300" dirty="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98130" y="154544"/>
            <a:ext cx="893165" cy="89316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1405641" y="6399265"/>
            <a:ext cx="104139" cy="25146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7"/>
          <p:cNvSpPr txBox="1"/>
          <p:nvPr/>
        </p:nvSpPr>
        <p:spPr>
          <a:xfrm>
            <a:off x="304801" y="852968"/>
            <a:ext cx="6176044" cy="5368714"/>
          </a:xfrm>
          <a:prstGeom prst="rect">
            <a:avLst/>
          </a:prstGeom>
          <a:ln w="9524">
            <a:solidFill>
              <a:srgbClr val="1F497D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b="1" spc="-25" dirty="0"/>
              <a:t>KHAN SURAKSHA </a:t>
            </a:r>
            <a:r>
              <a:rPr lang="en-IN" sz="1600" b="1" spc="-85" dirty="0"/>
              <a:t>(</a:t>
            </a:r>
            <a:r>
              <a:rPr lang="hi-IN" sz="1600" b="1" dirty="0"/>
              <a:t>खन सुरक्षा</a:t>
            </a:r>
            <a:r>
              <a:rPr lang="hi-IN" sz="1600" b="1" spc="-85" dirty="0"/>
              <a:t>)</a:t>
            </a:r>
            <a:endParaRPr lang="en-IN" sz="1600" b="1" spc="-85" dirty="0"/>
          </a:p>
          <a:p>
            <a:pPr algn="l"/>
            <a:r>
              <a:rPr lang="en-IN" sz="1600" b="1" dirty="0"/>
              <a:t>1. Unified Terminology Service</a:t>
            </a:r>
            <a:br>
              <a:rPr lang="en-IN" sz="1600" dirty="0"/>
            </a:br>
            <a:r>
              <a:rPr lang="en-IN" sz="1600" dirty="0"/>
              <a:t>Doctors can search AYUSH (NAMASTE) and ICD-11 codes in one place.</a:t>
            </a:r>
            <a:br>
              <a:rPr lang="en-IN" sz="1600" dirty="0"/>
            </a:br>
            <a:r>
              <a:rPr lang="en-IN" sz="1600" i="1" dirty="0"/>
              <a:t>(Powered by FHIR-compliant microservice)</a:t>
            </a:r>
            <a:endParaRPr lang="en-IN" sz="1600" dirty="0"/>
          </a:p>
          <a:p>
            <a:pPr algn="l"/>
            <a:r>
              <a:rPr lang="en-IN" sz="1600" b="1" dirty="0"/>
              <a:t>2. AI-Powered Dual Coding</a:t>
            </a:r>
            <a:br>
              <a:rPr lang="en-IN" sz="1600" dirty="0"/>
            </a:br>
            <a:r>
              <a:rPr lang="en-IN" sz="1600" dirty="0"/>
              <a:t>Automatically maps AYUSH codes to ICD-11 with explanations.</a:t>
            </a:r>
            <a:br>
              <a:rPr lang="en-IN" sz="1600" dirty="0"/>
            </a:br>
            <a:r>
              <a:rPr lang="en-IN" sz="1600" i="1" dirty="0"/>
              <a:t>(Enabled via Vector DB + LLM engine)</a:t>
            </a:r>
            <a:endParaRPr lang="en-IN" sz="1600" dirty="0"/>
          </a:p>
          <a:p>
            <a:pPr algn="l"/>
            <a:r>
              <a:rPr lang="en-IN" sz="1600" b="1" dirty="0"/>
              <a:t>3. Smart Auto-complete</a:t>
            </a:r>
            <a:br>
              <a:rPr lang="en-IN" sz="1600" dirty="0"/>
            </a:br>
            <a:r>
              <a:rPr lang="en-IN" sz="1600" dirty="0"/>
              <a:t>Suggests relevant codes instantly as the doctor types.</a:t>
            </a:r>
            <a:br>
              <a:rPr lang="en-IN" sz="1600" dirty="0"/>
            </a:br>
            <a:r>
              <a:rPr lang="en-IN" sz="1600" i="1" dirty="0"/>
              <a:t>(Delivered through RAG-based search APIs)</a:t>
            </a:r>
            <a:endParaRPr lang="en-IN" sz="1600" dirty="0"/>
          </a:p>
          <a:p>
            <a:pPr algn="l"/>
            <a:r>
              <a:rPr lang="en-IN" sz="1600" b="1" dirty="0"/>
              <a:t>4. Seamless EMR Integration</a:t>
            </a:r>
            <a:br>
              <a:rPr lang="en-IN" sz="1600" dirty="0"/>
            </a:br>
            <a:r>
              <a:rPr lang="en-IN" sz="1600" dirty="0"/>
              <a:t>Outputs dual-coded diagnosis directly into hospital EMRs.</a:t>
            </a:r>
            <a:br>
              <a:rPr lang="en-IN" sz="1600" dirty="0"/>
            </a:br>
            <a:r>
              <a:rPr lang="en-IN" sz="1600" i="1" dirty="0"/>
              <a:t>(Exported as FHIR Bundle / </a:t>
            </a:r>
            <a:r>
              <a:rPr lang="en-IN" sz="1600" i="1" dirty="0" err="1"/>
              <a:t>ProblemList</a:t>
            </a:r>
            <a:r>
              <a:rPr lang="en-IN" sz="1600" i="1" dirty="0"/>
              <a:t>)</a:t>
            </a:r>
            <a:endParaRPr lang="en-IN" sz="1600" dirty="0"/>
          </a:p>
          <a:p>
            <a:pPr algn="l"/>
            <a:r>
              <a:rPr lang="en-IN" sz="1600" b="1" dirty="0"/>
              <a:t>5. Secure &amp; Compliant</a:t>
            </a:r>
            <a:br>
              <a:rPr lang="en-IN" sz="1600" dirty="0"/>
            </a:br>
            <a:r>
              <a:rPr lang="en-IN" sz="1600" dirty="0"/>
              <a:t>Every action is authenticated via ABHA ID and logged.</a:t>
            </a:r>
            <a:br>
              <a:rPr lang="en-IN" sz="1600" dirty="0"/>
            </a:br>
            <a:r>
              <a:rPr lang="en-IN" sz="1600" i="1" dirty="0"/>
              <a:t>(OAuth2 + Audit trails)</a:t>
            </a:r>
            <a:endParaRPr lang="en-IN" sz="1600" dirty="0"/>
          </a:p>
          <a:p>
            <a:pPr algn="l"/>
            <a:r>
              <a:rPr lang="en-IN" sz="1600" b="1" dirty="0"/>
              <a:t>6. Doctor-Friendly Demo UI</a:t>
            </a:r>
            <a:br>
              <a:rPr lang="en-IN" sz="1600" dirty="0"/>
            </a:br>
            <a:r>
              <a:rPr lang="en-IN" sz="1600" dirty="0"/>
              <a:t>Simple interface for clinicians to try search, mapping, and EMR export.</a:t>
            </a:r>
            <a:br>
              <a:rPr lang="en-IN" sz="1600" dirty="0"/>
            </a:br>
            <a:r>
              <a:rPr lang="en-IN" sz="1600" i="1" dirty="0"/>
              <a:t>(Built with ReactJS frontend)</a:t>
            </a:r>
            <a:endParaRPr lang="en-IN" sz="1600" dirty="0"/>
          </a:p>
        </p:txBody>
      </p:sp>
      <p:pic>
        <p:nvPicPr>
          <p:cNvPr id="24" name="Picture 2" descr="https://www.sih.gov.in/img1/SIH-Logo.png">
            <a:extLst>
              <a:ext uri="{FF2B5EF4-FFF2-40B4-BE49-F238E27FC236}">
                <a16:creationId xmlns:a16="http://schemas.microsoft.com/office/drawing/2014/main" id="{1E63FCD5-D11E-7311-571D-4C5EEBF8A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2458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diagram of a service&#10;&#10;AI-generated content may be incorrect.">
            <a:extLst>
              <a:ext uri="{FF2B5EF4-FFF2-40B4-BE49-F238E27FC236}">
                <a16:creationId xmlns:a16="http://schemas.microsoft.com/office/drawing/2014/main" id="{7B9267FB-D137-19C1-1665-D6981A7F6E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201" y="1988374"/>
            <a:ext cx="6567709" cy="19542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515875"/>
              <a:ext cx="12192000" cy="3421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099"/>
                  </a:moveTo>
                  <a:lnTo>
                    <a:pt x="0" y="3650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099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618" rIns="0" bIns="0" rtlCol="0">
            <a:spAutoFit/>
          </a:bodyPr>
          <a:lstStyle/>
          <a:p>
            <a:pPr marL="19132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TECHNICAL</a:t>
            </a:r>
            <a:r>
              <a:rPr spc="-36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8" name="object 8"/>
          <p:cNvSpPr/>
          <p:nvPr/>
        </p:nvSpPr>
        <p:spPr>
          <a:xfrm>
            <a:off x="6156075" y="1167874"/>
            <a:ext cx="5553075" cy="5189220"/>
          </a:xfrm>
          <a:custGeom>
            <a:avLst/>
            <a:gdLst/>
            <a:ahLst/>
            <a:cxnLst/>
            <a:rect l="l" t="t" r="r" b="b"/>
            <a:pathLst>
              <a:path w="5553075" h="5189220">
                <a:moveTo>
                  <a:pt x="5552699" y="5189099"/>
                </a:moveTo>
                <a:lnTo>
                  <a:pt x="0" y="5189099"/>
                </a:lnTo>
                <a:lnTo>
                  <a:pt x="0" y="0"/>
                </a:lnTo>
                <a:lnTo>
                  <a:pt x="5552699" y="0"/>
                </a:lnTo>
                <a:lnTo>
                  <a:pt x="5552699" y="5189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09600" y="1182150"/>
            <a:ext cx="5265420" cy="5193729"/>
          </a:xfrm>
          <a:prstGeom prst="rect">
            <a:avLst/>
          </a:prstGeom>
          <a:ln w="9524">
            <a:solidFill>
              <a:srgbClr val="1F497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IN"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85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L="1210945">
              <a:lnSpc>
                <a:spcPct val="100000"/>
              </a:lnSpc>
            </a:pPr>
            <a:r>
              <a:rPr sz="1300" dirty="0">
                <a:latin typeface="Times New Roman"/>
                <a:cs typeface="Times New Roman"/>
              </a:rPr>
              <a:t>Figure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No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02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-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Process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Flow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Diagram</a:t>
            </a:r>
            <a:endParaRPr sz="13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56075" y="1167875"/>
            <a:ext cx="5807325" cy="5364930"/>
          </a:xfrm>
          <a:prstGeom prst="rect">
            <a:avLst/>
          </a:prstGeom>
          <a:ln w="9524">
            <a:solidFill>
              <a:srgbClr val="1F497D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415"/>
              </a:spcBef>
            </a:pPr>
            <a:r>
              <a:rPr sz="1600" b="1" dirty="0">
                <a:solidFill>
                  <a:srgbClr val="F48349"/>
                </a:solidFill>
                <a:latin typeface="Times New Roman"/>
                <a:cs typeface="Times New Roman"/>
              </a:rPr>
              <a:t>TECH</a:t>
            </a:r>
            <a:r>
              <a:rPr sz="1600" b="1" spc="-20" dirty="0">
                <a:solidFill>
                  <a:srgbClr val="F48349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48349"/>
                </a:solidFill>
                <a:latin typeface="Times New Roman"/>
                <a:cs typeface="Times New Roman"/>
              </a:rPr>
              <a:t>STACK</a:t>
            </a:r>
            <a:endParaRPr sz="1600" dirty="0">
              <a:latin typeface="Times New Roman"/>
              <a:cs typeface="Times New Roman"/>
            </a:endParaRPr>
          </a:p>
          <a:p>
            <a:pPr marL="285750" lvl="1" indent="-285750" algn="just"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/>
                <a:cs typeface="Times New Roman"/>
              </a:rPr>
              <a:t>Frontend: React.js + Vite, Tailwind CSS</a:t>
            </a:r>
          </a:p>
          <a:p>
            <a:pPr marL="285750" lvl="1" indent="-285750" algn="just"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/>
                <a:cs typeface="Times New Roman"/>
              </a:rPr>
              <a:t>Backend: Django REST Framework / </a:t>
            </a:r>
            <a:r>
              <a:rPr lang="en-IN" sz="1600" dirty="0" err="1">
                <a:latin typeface="Times New Roman"/>
                <a:cs typeface="Times New Roman"/>
              </a:rPr>
              <a:t>FastAPI</a:t>
            </a:r>
            <a:r>
              <a:rPr lang="en-IN" sz="1600" dirty="0">
                <a:latin typeface="Times New Roman"/>
                <a:cs typeface="Times New Roman"/>
              </a:rPr>
              <a:t> (Python-based, AI-friendly)</a:t>
            </a:r>
          </a:p>
          <a:p>
            <a:pPr marL="285750" lvl="1" indent="-285750" algn="just"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/>
                <a:cs typeface="Times New Roman"/>
              </a:rPr>
              <a:t>Database &amp; Hosting: Firebase (</a:t>
            </a:r>
            <a:r>
              <a:rPr lang="en-IN" sz="1600" dirty="0" err="1">
                <a:latin typeface="Times New Roman"/>
                <a:cs typeface="Times New Roman"/>
              </a:rPr>
              <a:t>Firestore</a:t>
            </a:r>
            <a:r>
              <a:rPr lang="en-IN" sz="1600" dirty="0">
                <a:latin typeface="Times New Roman"/>
                <a:cs typeface="Times New Roman"/>
              </a:rPr>
              <a:t> / Realtime DB) + AWS S3 / GCP Storage (for sensor &amp; drone data)</a:t>
            </a:r>
          </a:p>
          <a:p>
            <a:pPr marL="285750" lvl="1" indent="-285750" algn="just"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/>
                <a:cs typeface="Times New Roman"/>
              </a:rPr>
              <a:t>Real-time Communication: Firebase Realtime DB / </a:t>
            </a:r>
            <a:r>
              <a:rPr lang="en-IN" sz="1600" dirty="0" err="1">
                <a:latin typeface="Times New Roman"/>
                <a:cs typeface="Times New Roman"/>
              </a:rPr>
              <a:t>WebSockets</a:t>
            </a:r>
            <a:r>
              <a:rPr lang="en-IN" sz="1600" dirty="0">
                <a:latin typeface="Times New Roman"/>
                <a:cs typeface="Times New Roman"/>
              </a:rPr>
              <a:t> (Socket.IO)</a:t>
            </a:r>
          </a:p>
          <a:p>
            <a:pPr marL="285750" lvl="1" indent="-285750" algn="just"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/>
                <a:cs typeface="Times New Roman"/>
              </a:rPr>
              <a:t>AI/ML Integration: TensorFlow / </a:t>
            </a:r>
            <a:r>
              <a:rPr lang="en-IN" sz="1600" dirty="0" err="1">
                <a:latin typeface="Times New Roman"/>
                <a:cs typeface="Times New Roman"/>
              </a:rPr>
              <a:t>PyTorch</a:t>
            </a:r>
            <a:r>
              <a:rPr lang="en-IN" sz="1600" dirty="0">
                <a:latin typeface="Times New Roman"/>
                <a:cs typeface="Times New Roman"/>
              </a:rPr>
              <a:t>, Scikit-learn, SHAP/LIME (Explainable AI)</a:t>
            </a:r>
          </a:p>
          <a:p>
            <a:pPr marL="285750" lvl="1" indent="-285750" algn="just"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/>
                <a:cs typeface="Times New Roman"/>
              </a:rPr>
              <a:t>Geospatial &amp; Mapping: Leaflet.js / </a:t>
            </a:r>
            <a:r>
              <a:rPr lang="en-IN" sz="1600" dirty="0" err="1">
                <a:latin typeface="Times New Roman"/>
                <a:cs typeface="Times New Roman"/>
              </a:rPr>
              <a:t>Mapbox</a:t>
            </a:r>
            <a:r>
              <a:rPr lang="en-IN" sz="1600" dirty="0">
                <a:latin typeface="Times New Roman"/>
                <a:cs typeface="Times New Roman"/>
              </a:rPr>
              <a:t> GL JS, GDAL, </a:t>
            </a:r>
            <a:r>
              <a:rPr lang="en-IN" sz="1600" dirty="0" err="1">
                <a:latin typeface="Times New Roman"/>
                <a:cs typeface="Times New Roman"/>
              </a:rPr>
              <a:t>Rasterio</a:t>
            </a:r>
            <a:endParaRPr lang="en-IN" sz="1600" dirty="0">
              <a:latin typeface="Times New Roman"/>
              <a:cs typeface="Times New Roman"/>
            </a:endParaRPr>
          </a:p>
          <a:p>
            <a:pPr marL="285750" lvl="1" indent="-285750" algn="just"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/>
                <a:cs typeface="Times New Roman"/>
              </a:rPr>
              <a:t>Data Visualization &amp; Reporting: D3.js / Plotly.js / Chart.js</a:t>
            </a:r>
          </a:p>
          <a:p>
            <a:pPr marL="285750" lvl="1" indent="-285750" algn="just"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/>
                <a:cs typeface="Times New Roman"/>
              </a:rPr>
              <a:t>Alerts &amp; Notifications: Twilio / Fast2SMS (SMS), Firebase Cloud Messaging (Push), python-telegram-bot (Telegram/WhatsApp)</a:t>
            </a:r>
          </a:p>
          <a:p>
            <a:pPr marL="285750" lvl="1" indent="-285750" algn="just"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/>
                <a:cs typeface="Times New Roman"/>
              </a:rPr>
              <a:t>Security &amp; Authentication: Firebase Authentication (Email/OTP/MFA)</a:t>
            </a:r>
          </a:p>
          <a:p>
            <a:pPr marL="285750" lvl="1" indent="-285750" algn="just"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/>
                <a:cs typeface="Times New Roman"/>
              </a:rPr>
              <a:t>Edge/Offline Deployment (Optional): TensorFlow Lite / ONNX Runtime</a:t>
            </a:r>
          </a:p>
          <a:p>
            <a:pPr marL="285750" lvl="1" indent="-285750" algn="just"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/>
                <a:cs typeface="Times New Roman"/>
              </a:rPr>
              <a:t>DevOps &amp; Deployment: Docker, GitHub Actions, AWS/GCP free credits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470291" y="6535766"/>
            <a:ext cx="104139" cy="25146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70A8F6D-BC9B-35C0-A887-5BDF8B4F2E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34"/>
          <a:stretch>
            <a:fillRect/>
          </a:stretch>
        </p:blipFill>
        <p:spPr>
          <a:xfrm>
            <a:off x="122465" y="50751"/>
            <a:ext cx="1524000" cy="9761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C41DA0-9437-C245-055C-B865AB3369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5" t="2297" r="2703" b="1031"/>
          <a:stretch>
            <a:fillRect/>
          </a:stretch>
        </p:blipFill>
        <p:spPr>
          <a:xfrm>
            <a:off x="644609" y="1237824"/>
            <a:ext cx="5230411" cy="4833248"/>
          </a:xfrm>
          <a:prstGeom prst="rect">
            <a:avLst/>
          </a:prstGeom>
        </p:spPr>
      </p:pic>
      <p:pic>
        <p:nvPicPr>
          <p:cNvPr id="14" name="Picture 2" descr="https://www.sih.gov.in/img1/SIH-Logo.png">
            <a:extLst>
              <a:ext uri="{FF2B5EF4-FFF2-40B4-BE49-F238E27FC236}">
                <a16:creationId xmlns:a16="http://schemas.microsoft.com/office/drawing/2014/main" id="{4BA04297-D56D-87CF-5501-A6832368B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2321" y="33506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21025" y="784300"/>
            <a:ext cx="3936998" cy="587525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773600"/>
            <a:ext cx="12192000" cy="6084570"/>
            <a:chOff x="0" y="773600"/>
            <a:chExt cx="12192000" cy="6084570"/>
          </a:xfrm>
        </p:grpSpPr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15399" y="773600"/>
              <a:ext cx="3936998" cy="587525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3974" y="773829"/>
              <a:ext cx="3976776" cy="587501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6377762"/>
              <a:ext cx="12192000" cy="48023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6354761"/>
              <a:ext cx="12192000" cy="503555"/>
            </a:xfrm>
            <a:custGeom>
              <a:avLst/>
              <a:gdLst/>
              <a:ahLst/>
              <a:cxnLst/>
              <a:rect l="l" t="t" r="r" b="b"/>
              <a:pathLst>
                <a:path w="12192000" h="503554">
                  <a:moveTo>
                    <a:pt x="12191999" y="503099"/>
                  </a:moveTo>
                  <a:lnTo>
                    <a:pt x="0" y="5030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503099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618" rIns="0" bIns="0" rtlCol="0">
            <a:spAutoFit/>
          </a:bodyPr>
          <a:lstStyle/>
          <a:p>
            <a:pPr marL="13474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FEASIBILITY</a:t>
            </a:r>
            <a:r>
              <a:rPr spc="-31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VIABILITY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55919" y="1978434"/>
            <a:ext cx="19335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48349"/>
                </a:solidFill>
                <a:latin typeface="Times New Roman"/>
                <a:cs typeface="Times New Roman"/>
              </a:rPr>
              <a:t>Analysis</a:t>
            </a:r>
            <a:r>
              <a:rPr sz="1600" b="1" spc="-60" dirty="0">
                <a:solidFill>
                  <a:srgbClr val="F48349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48349"/>
                </a:solidFill>
                <a:latin typeface="Times New Roman"/>
                <a:cs typeface="Times New Roman"/>
              </a:rPr>
              <a:t>of</a:t>
            </a:r>
            <a:r>
              <a:rPr sz="1600" b="1" spc="-55" dirty="0">
                <a:solidFill>
                  <a:srgbClr val="F48349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48349"/>
                </a:solidFill>
                <a:latin typeface="Times New Roman"/>
                <a:cs typeface="Times New Roman"/>
              </a:rPr>
              <a:t>Feasibility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13" name="object 13"/>
          <p:cNvSpPr txBox="1"/>
          <p:nvPr/>
        </p:nvSpPr>
        <p:spPr>
          <a:xfrm>
            <a:off x="414900" y="2467130"/>
            <a:ext cx="8096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Technical: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6168" y="2680490"/>
            <a:ext cx="2999740" cy="1331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marR="337820" indent="-3365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lang="en-IN" sz="1400" dirty="0">
                <a:latin typeface="Times New Roman"/>
                <a:cs typeface="Times New Roman"/>
              </a:rPr>
              <a:t>Proven availability of AI/ML frameworks for prediction.</a:t>
            </a:r>
          </a:p>
          <a:p>
            <a:pPr marL="348615" marR="337820" indent="-3365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lang="en-IN" sz="1400" dirty="0">
                <a:latin typeface="Times New Roman"/>
                <a:cs typeface="Times New Roman"/>
              </a:rPr>
              <a:t>Existing tools for drone/sensor data collection.</a:t>
            </a:r>
          </a:p>
          <a:p>
            <a:pPr marL="348615" marR="337820" indent="-3365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lang="en-IN" sz="1400" dirty="0">
                <a:latin typeface="Times New Roman"/>
                <a:cs typeface="Times New Roman"/>
              </a:rPr>
              <a:t>Cloud platforms support scalability and storage.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4900" y="4092904"/>
            <a:ext cx="8356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Economic: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6168" y="4387370"/>
            <a:ext cx="2921000" cy="9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marR="148590" indent="-3365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lang="en-IN" sz="1400" dirty="0">
                <a:latin typeface="Times New Roman"/>
                <a:cs typeface="Times New Roman"/>
              </a:rPr>
              <a:t>Low-cost sensors &amp; drones</a:t>
            </a:r>
          </a:p>
          <a:p>
            <a:pPr marL="348615" marR="148590" indent="-3365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lang="en-IN" sz="1400" dirty="0">
                <a:latin typeface="Times New Roman"/>
                <a:cs typeface="Times New Roman"/>
              </a:rPr>
              <a:t>Software licensing cost</a:t>
            </a:r>
          </a:p>
          <a:p>
            <a:pPr marL="348615" marR="148590" indent="-3365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lang="en-IN" sz="1400" dirty="0">
                <a:latin typeface="Times New Roman"/>
                <a:cs typeface="Times New Roman"/>
              </a:rPr>
              <a:t>software licensing cost</a:t>
            </a:r>
          </a:p>
          <a:p>
            <a:pPr marL="348615" marR="148590" indent="-3365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lang="en-IN" sz="1400" dirty="0">
                <a:latin typeface="Times New Roman"/>
                <a:cs typeface="Times New Roman"/>
              </a:rPr>
              <a:t>Huge economic losses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7138" y="5398638"/>
            <a:ext cx="1003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Operational: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6168" y="5667531"/>
            <a:ext cx="328358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marR="5080" indent="-3365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Mobile dashboards, govt. familiarity, phased adoption possible.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98362" y="1978434"/>
            <a:ext cx="26263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F48349"/>
                </a:solidFill>
                <a:latin typeface="Times New Roman"/>
                <a:cs typeface="Times New Roman"/>
              </a:rPr>
              <a:t>Potential</a:t>
            </a:r>
            <a:r>
              <a:rPr sz="1600" b="1" spc="-20" dirty="0">
                <a:solidFill>
                  <a:srgbClr val="F48349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48349"/>
                </a:solidFill>
                <a:latin typeface="Times New Roman"/>
                <a:cs typeface="Times New Roman"/>
              </a:rPr>
              <a:t>Risk</a:t>
            </a:r>
            <a:r>
              <a:rPr sz="1600" b="1" spc="-15" dirty="0">
                <a:solidFill>
                  <a:srgbClr val="F48349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48349"/>
                </a:solidFill>
                <a:latin typeface="Times New Roman"/>
                <a:cs typeface="Times New Roman"/>
              </a:rPr>
              <a:t>and</a:t>
            </a:r>
            <a:r>
              <a:rPr sz="1600" b="1" spc="-20" dirty="0">
                <a:solidFill>
                  <a:srgbClr val="F48349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48349"/>
                </a:solidFill>
                <a:latin typeface="Times New Roman"/>
                <a:cs typeface="Times New Roman"/>
              </a:rPr>
              <a:t>Challenges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04474" y="2467130"/>
            <a:ext cx="1125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Technological: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01786" y="2703505"/>
            <a:ext cx="3254375" cy="9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marR="192405" indent="-3365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lang="en-IN" sz="1400" dirty="0">
                <a:latin typeface="Times New Roman"/>
                <a:cs typeface="Times New Roman"/>
              </a:rPr>
              <a:t>Sensor/drone data</a:t>
            </a:r>
          </a:p>
          <a:p>
            <a:pPr marL="348615" marR="192405" indent="-3365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Integration of diverse data types\</a:t>
            </a:r>
          </a:p>
          <a:p>
            <a:pPr marL="348615" marR="192405" indent="-3365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lang="en-IN" sz="1400" dirty="0">
                <a:latin typeface="Times New Roman"/>
                <a:cs typeface="Times New Roman"/>
              </a:rPr>
              <a:t>Real-time processing latency</a:t>
            </a:r>
          </a:p>
          <a:p>
            <a:pPr marL="348615" marR="192405" indent="-3365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lang="en-IN" sz="1400" dirty="0">
                <a:latin typeface="Times New Roman"/>
                <a:cs typeface="Times New Roman"/>
              </a:rPr>
              <a:t>Bias or underfitting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04474" y="3903772"/>
            <a:ext cx="12306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Organizational: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40453" y="4186310"/>
            <a:ext cx="3260725" cy="1774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marR="377825" indent="-3365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Resistance from mine staff due to fear of job replacement.</a:t>
            </a:r>
          </a:p>
          <a:p>
            <a:pPr marL="348615" marR="377825" indent="-3365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Lack of trained manpower to maintain the system.</a:t>
            </a:r>
          </a:p>
          <a:p>
            <a:pPr marL="348615" marR="377825" indent="-3365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Data-sharing hesitancy from private mining companies.</a:t>
            </a:r>
          </a:p>
          <a:p>
            <a:pPr marL="348615" marR="377825" indent="-3365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Compliance with Indian mining regulations.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69750" y="1989470"/>
            <a:ext cx="33064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F48349"/>
                </a:solidFill>
                <a:latin typeface="Times New Roman"/>
                <a:cs typeface="Times New Roman"/>
              </a:rPr>
              <a:t>Strategies</a:t>
            </a:r>
            <a:r>
              <a:rPr sz="1600" b="1" spc="-35" dirty="0">
                <a:solidFill>
                  <a:srgbClr val="F48349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48349"/>
                </a:solidFill>
                <a:latin typeface="Times New Roman"/>
                <a:cs typeface="Times New Roman"/>
              </a:rPr>
              <a:t>for</a:t>
            </a:r>
            <a:r>
              <a:rPr sz="1600" b="1" spc="-60" dirty="0">
                <a:solidFill>
                  <a:srgbClr val="F48349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48349"/>
                </a:solidFill>
                <a:latin typeface="Times New Roman"/>
                <a:cs typeface="Times New Roman"/>
              </a:rPr>
              <a:t>Overcoming</a:t>
            </a:r>
            <a:r>
              <a:rPr sz="1600" b="1" spc="-25" dirty="0">
                <a:solidFill>
                  <a:srgbClr val="F48349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48349"/>
                </a:solidFill>
                <a:latin typeface="Times New Roman"/>
                <a:cs typeface="Times New Roman"/>
              </a:rPr>
              <a:t>Challenges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66587" y="2467130"/>
            <a:ext cx="8096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Technical: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25011" y="2711021"/>
            <a:ext cx="329311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marR="5080" indent="-3365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lang="en-IN" sz="1400" dirty="0">
                <a:latin typeface="Times New Roman"/>
                <a:cs typeface="Times New Roman"/>
              </a:rPr>
              <a:t>Edge computing, hybrid models, data augmentation, explainable AI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25011" y="3889296"/>
            <a:ext cx="1003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Operational: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47236" y="4212284"/>
            <a:ext cx="3289935" cy="15465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marR="377825" indent="-3365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Provide role-based dashboards.</a:t>
            </a:r>
          </a:p>
          <a:p>
            <a:pPr marL="348615" marR="377825" indent="-3365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Start with pilot mines → build trust &amp; show benefits before scaling.</a:t>
            </a:r>
          </a:p>
          <a:p>
            <a:pPr marL="348615" marR="377825" indent="-3365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Conduct training sessions for workers and supervisors.</a:t>
            </a:r>
          </a:p>
          <a:p>
            <a:pPr marL="348615" marR="377825" indent="-33655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48615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Ensure government partnership for regulatory compliance &amp; adoption.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C59F31B-0AC0-1517-4C17-1B3953DB41D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91"/>
          <a:stretch>
            <a:fillRect/>
          </a:stretch>
        </p:blipFill>
        <p:spPr>
          <a:xfrm>
            <a:off x="173752" y="107843"/>
            <a:ext cx="1466672" cy="934669"/>
          </a:xfrm>
          <a:prstGeom prst="rect">
            <a:avLst/>
          </a:prstGeom>
        </p:spPr>
      </p:pic>
      <p:pic>
        <p:nvPicPr>
          <p:cNvPr id="33" name="Picture 2" descr="https://www.sih.gov.in/img1/SIH-Logo.png">
            <a:extLst>
              <a:ext uri="{FF2B5EF4-FFF2-40B4-BE49-F238E27FC236}">
                <a16:creationId xmlns:a16="http://schemas.microsoft.com/office/drawing/2014/main" id="{E94CCEDD-08A8-6F78-5878-9EA2D7987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54762"/>
            <a:ext cx="12192000" cy="503555"/>
            <a:chOff x="0" y="6354762"/>
            <a:chExt cx="12192000" cy="5035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77762"/>
              <a:ext cx="12192000" cy="48023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354762"/>
              <a:ext cx="12192000" cy="503555"/>
            </a:xfrm>
            <a:custGeom>
              <a:avLst/>
              <a:gdLst/>
              <a:ahLst/>
              <a:cxnLst/>
              <a:rect l="l" t="t" r="r" b="b"/>
              <a:pathLst>
                <a:path w="12192000" h="503554">
                  <a:moveTo>
                    <a:pt x="12191999" y="503099"/>
                  </a:moveTo>
                  <a:lnTo>
                    <a:pt x="0" y="5030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503099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68" rIns="0" bIns="0" rtlCol="0">
            <a:spAutoFit/>
          </a:bodyPr>
          <a:lstStyle/>
          <a:p>
            <a:pPr marL="199136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IMPACT</a:t>
            </a:r>
            <a:r>
              <a:rPr spc="-265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spc="-10" dirty="0"/>
              <a:t>BENEFITS</a:t>
            </a:r>
          </a:p>
        </p:txBody>
      </p:sp>
      <p:grpSp>
        <p:nvGrpSpPr>
          <p:cNvPr id="21" name="object 21"/>
          <p:cNvGrpSpPr/>
          <p:nvPr/>
        </p:nvGrpSpPr>
        <p:grpSpPr>
          <a:xfrm>
            <a:off x="792291" y="1741958"/>
            <a:ext cx="5486400" cy="1077442"/>
            <a:chOff x="792291" y="1741958"/>
            <a:chExt cx="5496560" cy="1418590"/>
          </a:xfrm>
        </p:grpSpPr>
        <p:sp>
          <p:nvSpPr>
            <p:cNvPr id="22" name="object 22"/>
            <p:cNvSpPr/>
            <p:nvPr/>
          </p:nvSpPr>
          <p:spPr>
            <a:xfrm>
              <a:off x="797100" y="1746720"/>
              <a:ext cx="5486400" cy="1409065"/>
            </a:xfrm>
            <a:custGeom>
              <a:avLst/>
              <a:gdLst/>
              <a:ahLst/>
              <a:cxnLst/>
              <a:rect l="l" t="t" r="r" b="b"/>
              <a:pathLst>
                <a:path w="5486400" h="1409064">
                  <a:moveTo>
                    <a:pt x="5251595" y="1408799"/>
                  </a:moveTo>
                  <a:lnTo>
                    <a:pt x="0" y="1408799"/>
                  </a:lnTo>
                  <a:lnTo>
                    <a:pt x="0" y="234804"/>
                  </a:lnTo>
                  <a:lnTo>
                    <a:pt x="4770" y="187483"/>
                  </a:lnTo>
                  <a:lnTo>
                    <a:pt x="18452" y="143408"/>
                  </a:lnTo>
                  <a:lnTo>
                    <a:pt x="40100" y="103523"/>
                  </a:lnTo>
                  <a:lnTo>
                    <a:pt x="68772" y="68772"/>
                  </a:lnTo>
                  <a:lnTo>
                    <a:pt x="103523" y="40100"/>
                  </a:lnTo>
                  <a:lnTo>
                    <a:pt x="143408" y="18452"/>
                  </a:lnTo>
                  <a:lnTo>
                    <a:pt x="187483" y="4770"/>
                  </a:lnTo>
                  <a:lnTo>
                    <a:pt x="234804" y="0"/>
                  </a:lnTo>
                  <a:lnTo>
                    <a:pt x="5486399" y="0"/>
                  </a:lnTo>
                  <a:lnTo>
                    <a:pt x="5486399" y="1173995"/>
                  </a:lnTo>
                  <a:lnTo>
                    <a:pt x="5481629" y="1221316"/>
                  </a:lnTo>
                  <a:lnTo>
                    <a:pt x="5467947" y="1265391"/>
                  </a:lnTo>
                  <a:lnTo>
                    <a:pt x="5446298" y="1305276"/>
                  </a:lnTo>
                  <a:lnTo>
                    <a:pt x="5417627" y="1340027"/>
                  </a:lnTo>
                  <a:lnTo>
                    <a:pt x="5382876" y="1368699"/>
                  </a:lnTo>
                  <a:lnTo>
                    <a:pt x="5342991" y="1390347"/>
                  </a:lnTo>
                  <a:lnTo>
                    <a:pt x="5298916" y="1404029"/>
                  </a:lnTo>
                  <a:lnTo>
                    <a:pt x="5251595" y="1408799"/>
                  </a:lnTo>
                  <a:close/>
                </a:path>
              </a:pathLst>
            </a:custGeom>
            <a:solidFill>
              <a:srgbClr val="73C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97054" y="1746720"/>
              <a:ext cx="5487035" cy="1409065"/>
            </a:xfrm>
            <a:custGeom>
              <a:avLst/>
              <a:gdLst/>
              <a:ahLst/>
              <a:cxnLst/>
              <a:rect l="l" t="t" r="r" b="b"/>
              <a:pathLst>
                <a:path w="5487035" h="1409064">
                  <a:moveTo>
                    <a:pt x="234850" y="0"/>
                  </a:moveTo>
                  <a:lnTo>
                    <a:pt x="5486445" y="0"/>
                  </a:lnTo>
                  <a:lnTo>
                    <a:pt x="5486445" y="1173995"/>
                  </a:lnTo>
                  <a:lnTo>
                    <a:pt x="5481675" y="1221316"/>
                  </a:lnTo>
                  <a:lnTo>
                    <a:pt x="5467993" y="1265391"/>
                  </a:lnTo>
                  <a:lnTo>
                    <a:pt x="5446344" y="1305276"/>
                  </a:lnTo>
                  <a:lnTo>
                    <a:pt x="5417672" y="1340027"/>
                  </a:lnTo>
                  <a:lnTo>
                    <a:pt x="5382922" y="1368699"/>
                  </a:lnTo>
                  <a:lnTo>
                    <a:pt x="5343037" y="1390347"/>
                  </a:lnTo>
                  <a:lnTo>
                    <a:pt x="5298962" y="1404029"/>
                  </a:lnTo>
                  <a:lnTo>
                    <a:pt x="5251640" y="1408799"/>
                  </a:lnTo>
                  <a:lnTo>
                    <a:pt x="45" y="1408799"/>
                  </a:lnTo>
                  <a:lnTo>
                    <a:pt x="45" y="234804"/>
                  </a:lnTo>
                  <a:lnTo>
                    <a:pt x="4816" y="187483"/>
                  </a:lnTo>
                  <a:lnTo>
                    <a:pt x="18497" y="143408"/>
                  </a:lnTo>
                  <a:lnTo>
                    <a:pt x="40146" y="103523"/>
                  </a:lnTo>
                  <a:lnTo>
                    <a:pt x="68818" y="68772"/>
                  </a:lnTo>
                  <a:lnTo>
                    <a:pt x="103568" y="40100"/>
                  </a:lnTo>
                  <a:lnTo>
                    <a:pt x="143453" y="18452"/>
                  </a:lnTo>
                  <a:lnTo>
                    <a:pt x="187529" y="4770"/>
                  </a:lnTo>
                  <a:lnTo>
                    <a:pt x="234850" y="0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90315" y="2012208"/>
            <a:ext cx="4232910" cy="65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indent="-271780">
              <a:lnSpc>
                <a:spcPts val="1664"/>
              </a:lnSpc>
              <a:spcBef>
                <a:spcPts val="100"/>
              </a:spcBef>
              <a:buFont typeface="Microsoft Sans Serif"/>
              <a:buChar char="●"/>
              <a:tabLst>
                <a:tab pos="284480" algn="l"/>
              </a:tabLst>
            </a:pPr>
            <a:r>
              <a:rPr lang="en-IN" sz="1400" dirty="0">
                <a:latin typeface="Times New Roman"/>
                <a:cs typeface="Times New Roman"/>
              </a:rPr>
              <a:t>Real- time hazard alert for quick action.</a:t>
            </a:r>
            <a:endParaRPr sz="1400" dirty="0">
              <a:latin typeface="Times New Roman"/>
              <a:cs typeface="Times New Roman"/>
            </a:endParaRPr>
          </a:p>
          <a:p>
            <a:pPr marL="284480" indent="-271780">
              <a:lnSpc>
                <a:spcPts val="1650"/>
              </a:lnSpc>
              <a:buFont typeface="Microsoft Sans Serif"/>
              <a:buChar char="●"/>
              <a:tabLst>
                <a:tab pos="284480" algn="l"/>
              </a:tabLst>
            </a:pPr>
            <a:r>
              <a:rPr lang="en-IN" sz="1400" spc="-10" dirty="0">
                <a:latin typeface="Times New Roman"/>
                <a:cs typeface="Times New Roman"/>
              </a:rPr>
              <a:t>Automated Monitoring reduces manual workload.</a:t>
            </a:r>
            <a:endParaRPr sz="1400" dirty="0">
              <a:latin typeface="Times New Roman"/>
              <a:cs typeface="Times New Roman"/>
            </a:endParaRPr>
          </a:p>
          <a:p>
            <a:pPr marL="284480" indent="-271780">
              <a:lnSpc>
                <a:spcPts val="1650"/>
              </a:lnSpc>
              <a:buFont typeface="Microsoft Sans Serif"/>
              <a:buChar char="●"/>
              <a:tabLst>
                <a:tab pos="284480" algn="l"/>
              </a:tabLst>
            </a:pPr>
            <a:r>
              <a:rPr lang="en-IN" sz="1400" spc="-10" dirty="0">
                <a:latin typeface="Times New Roman"/>
                <a:cs typeface="Times New Roman"/>
              </a:rPr>
              <a:t>Data driven insights for excavation &amp; blasting plans</a:t>
            </a:r>
            <a:r>
              <a:rPr sz="1400" spc="-10" dirty="0">
                <a:latin typeface="Times New Roman"/>
                <a:cs typeface="Times New Roman"/>
              </a:rPr>
              <a:t>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9846" y="1336188"/>
            <a:ext cx="4520565" cy="705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025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solidFill>
                  <a:srgbClr val="F48349"/>
                </a:solidFill>
                <a:latin typeface="Times New Roman"/>
                <a:cs typeface="Times New Roman"/>
              </a:rPr>
              <a:t>Potential</a:t>
            </a:r>
            <a:r>
              <a:rPr sz="1900" b="1" spc="-85" dirty="0">
                <a:solidFill>
                  <a:srgbClr val="F4834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F48349"/>
                </a:solidFill>
                <a:latin typeface="Times New Roman"/>
                <a:cs typeface="Times New Roman"/>
              </a:rPr>
              <a:t>Impact</a:t>
            </a:r>
            <a:r>
              <a:rPr sz="1900" b="1" spc="-45" dirty="0">
                <a:solidFill>
                  <a:srgbClr val="F4834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F48349"/>
                </a:solidFill>
                <a:latin typeface="Times New Roman"/>
                <a:cs typeface="Times New Roman"/>
              </a:rPr>
              <a:t>on</a:t>
            </a:r>
            <a:r>
              <a:rPr sz="1900" b="1" spc="-75" dirty="0">
                <a:solidFill>
                  <a:srgbClr val="F48349"/>
                </a:solidFill>
                <a:latin typeface="Times New Roman"/>
                <a:cs typeface="Times New Roman"/>
              </a:rPr>
              <a:t> </a:t>
            </a:r>
            <a:r>
              <a:rPr sz="1900" b="1" spc="-35" dirty="0">
                <a:solidFill>
                  <a:srgbClr val="F48349"/>
                </a:solidFill>
                <a:latin typeface="Times New Roman"/>
                <a:cs typeface="Times New Roman"/>
              </a:rPr>
              <a:t>Target</a:t>
            </a:r>
            <a:r>
              <a:rPr sz="1900" b="1" spc="-105" dirty="0">
                <a:solidFill>
                  <a:srgbClr val="F4834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F48349"/>
                </a:solidFill>
                <a:latin typeface="Times New Roman"/>
                <a:cs typeface="Times New Roman"/>
              </a:rPr>
              <a:t>Audience</a:t>
            </a:r>
            <a:endParaRPr sz="1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lang="en-IN" sz="1400" b="1" spc="-10" dirty="0">
                <a:latin typeface="Times New Roman"/>
                <a:cs typeface="Times New Roman"/>
              </a:rPr>
              <a:t>Mine safety Officers:</a:t>
            </a:r>
            <a:endParaRPr sz="1400" dirty="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76790" y="2840897"/>
            <a:ext cx="5496560" cy="1121503"/>
            <a:chOff x="792291" y="3227728"/>
            <a:chExt cx="5496560" cy="1311275"/>
          </a:xfrm>
        </p:grpSpPr>
        <p:sp>
          <p:nvSpPr>
            <p:cNvPr id="27" name="object 27"/>
            <p:cNvSpPr/>
            <p:nvPr/>
          </p:nvSpPr>
          <p:spPr>
            <a:xfrm>
              <a:off x="797100" y="3232490"/>
              <a:ext cx="5486400" cy="1301750"/>
            </a:xfrm>
            <a:custGeom>
              <a:avLst/>
              <a:gdLst/>
              <a:ahLst/>
              <a:cxnLst/>
              <a:rect l="l" t="t" r="r" b="b"/>
              <a:pathLst>
                <a:path w="5486400" h="1301750">
                  <a:moveTo>
                    <a:pt x="5269495" y="1301399"/>
                  </a:moveTo>
                  <a:lnTo>
                    <a:pt x="0" y="1301399"/>
                  </a:lnTo>
                  <a:lnTo>
                    <a:pt x="0" y="216904"/>
                  </a:lnTo>
                  <a:lnTo>
                    <a:pt x="5728" y="167170"/>
                  </a:lnTo>
                  <a:lnTo>
                    <a:pt x="22046" y="121515"/>
                  </a:lnTo>
                  <a:lnTo>
                    <a:pt x="47651" y="81241"/>
                  </a:lnTo>
                  <a:lnTo>
                    <a:pt x="81241" y="47651"/>
                  </a:lnTo>
                  <a:lnTo>
                    <a:pt x="121515" y="22046"/>
                  </a:lnTo>
                  <a:lnTo>
                    <a:pt x="167170" y="5728"/>
                  </a:lnTo>
                  <a:lnTo>
                    <a:pt x="216904" y="0"/>
                  </a:lnTo>
                  <a:lnTo>
                    <a:pt x="5486399" y="0"/>
                  </a:lnTo>
                  <a:lnTo>
                    <a:pt x="5486399" y="1084495"/>
                  </a:lnTo>
                  <a:lnTo>
                    <a:pt x="5480671" y="1134229"/>
                  </a:lnTo>
                  <a:lnTo>
                    <a:pt x="5464353" y="1179884"/>
                  </a:lnTo>
                  <a:lnTo>
                    <a:pt x="5438748" y="1220158"/>
                  </a:lnTo>
                  <a:lnTo>
                    <a:pt x="5405158" y="1253748"/>
                  </a:lnTo>
                  <a:lnTo>
                    <a:pt x="5364884" y="1279353"/>
                  </a:lnTo>
                  <a:lnTo>
                    <a:pt x="5319229" y="1295671"/>
                  </a:lnTo>
                  <a:lnTo>
                    <a:pt x="5269495" y="1301399"/>
                  </a:lnTo>
                  <a:close/>
                </a:path>
              </a:pathLst>
            </a:custGeom>
            <a:solidFill>
              <a:srgbClr val="A1C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97054" y="3232490"/>
              <a:ext cx="5487035" cy="1301750"/>
            </a:xfrm>
            <a:custGeom>
              <a:avLst/>
              <a:gdLst/>
              <a:ahLst/>
              <a:cxnLst/>
              <a:rect l="l" t="t" r="r" b="b"/>
              <a:pathLst>
                <a:path w="5487035" h="1301750">
                  <a:moveTo>
                    <a:pt x="216949" y="0"/>
                  </a:moveTo>
                  <a:lnTo>
                    <a:pt x="5486445" y="0"/>
                  </a:lnTo>
                  <a:lnTo>
                    <a:pt x="5486445" y="1084495"/>
                  </a:lnTo>
                  <a:lnTo>
                    <a:pt x="5480717" y="1134229"/>
                  </a:lnTo>
                  <a:lnTo>
                    <a:pt x="5464399" y="1179884"/>
                  </a:lnTo>
                  <a:lnTo>
                    <a:pt x="5438794" y="1220158"/>
                  </a:lnTo>
                  <a:lnTo>
                    <a:pt x="5405204" y="1253748"/>
                  </a:lnTo>
                  <a:lnTo>
                    <a:pt x="5364930" y="1279353"/>
                  </a:lnTo>
                  <a:lnTo>
                    <a:pt x="5319275" y="1295671"/>
                  </a:lnTo>
                  <a:lnTo>
                    <a:pt x="5269541" y="1301399"/>
                  </a:lnTo>
                  <a:lnTo>
                    <a:pt x="45" y="1301399"/>
                  </a:lnTo>
                  <a:lnTo>
                    <a:pt x="45" y="216904"/>
                  </a:lnTo>
                  <a:lnTo>
                    <a:pt x="5774" y="167170"/>
                  </a:lnTo>
                  <a:lnTo>
                    <a:pt x="22092" y="121515"/>
                  </a:lnTo>
                  <a:lnTo>
                    <a:pt x="47697" y="81241"/>
                  </a:lnTo>
                  <a:lnTo>
                    <a:pt x="81287" y="47651"/>
                  </a:lnTo>
                  <a:lnTo>
                    <a:pt x="121560" y="22046"/>
                  </a:lnTo>
                  <a:lnTo>
                    <a:pt x="167215" y="5728"/>
                  </a:lnTo>
                  <a:lnTo>
                    <a:pt x="216949" y="0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921100" y="2917020"/>
            <a:ext cx="218567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b="1" spc="-20" dirty="0">
                <a:latin typeface="Times New Roman"/>
                <a:cs typeface="Times New Roman"/>
              </a:rPr>
              <a:t>Mine Workers: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90315" y="3190999"/>
            <a:ext cx="3919220" cy="65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indent="-271780">
              <a:lnSpc>
                <a:spcPts val="1650"/>
              </a:lnSpc>
              <a:buFont typeface="Microsoft Sans Serif"/>
              <a:buChar char="●"/>
              <a:tabLst>
                <a:tab pos="284480" algn="l"/>
              </a:tabLst>
            </a:pPr>
            <a:r>
              <a:rPr lang="en-IN" sz="1400" spc="-20" dirty="0">
                <a:latin typeface="Times New Roman"/>
                <a:cs typeface="Times New Roman"/>
              </a:rPr>
              <a:t>Life saving alerts (SMS / WhatsApp).</a:t>
            </a:r>
          </a:p>
          <a:p>
            <a:pPr marL="284480" indent="-271780">
              <a:lnSpc>
                <a:spcPts val="1650"/>
              </a:lnSpc>
              <a:buFont typeface="Microsoft Sans Serif"/>
              <a:buChar char="●"/>
              <a:tabLst>
                <a:tab pos="284480" algn="l"/>
              </a:tabLst>
            </a:pPr>
            <a:r>
              <a:rPr lang="en-IN" sz="1400" spc="-20" dirty="0">
                <a:latin typeface="Times New Roman"/>
                <a:cs typeface="Times New Roman"/>
              </a:rPr>
              <a:t>Increased  trust &amp; Morale due to safer environment.</a:t>
            </a:r>
          </a:p>
          <a:p>
            <a:pPr marL="284480" indent="-271780">
              <a:lnSpc>
                <a:spcPts val="1650"/>
              </a:lnSpc>
              <a:buFont typeface="Microsoft Sans Serif"/>
              <a:buChar char="●"/>
              <a:tabLst>
                <a:tab pos="284480" algn="l"/>
              </a:tabLst>
            </a:pPr>
            <a:r>
              <a:rPr lang="en-IN" sz="1400" spc="-20" dirty="0">
                <a:latin typeface="Times New Roman"/>
                <a:cs typeface="Times New Roman"/>
              </a:rPr>
              <a:t>Access to training &amp; safety guides in simple format</a:t>
            </a:r>
          </a:p>
        </p:txBody>
      </p:sp>
      <p:grpSp>
        <p:nvGrpSpPr>
          <p:cNvPr id="31" name="object 31"/>
          <p:cNvGrpSpPr/>
          <p:nvPr/>
        </p:nvGrpSpPr>
        <p:grpSpPr>
          <a:xfrm>
            <a:off x="771439" y="3994142"/>
            <a:ext cx="5496560" cy="1113356"/>
            <a:chOff x="792291" y="4611285"/>
            <a:chExt cx="5496560" cy="1525270"/>
          </a:xfrm>
        </p:grpSpPr>
        <p:sp>
          <p:nvSpPr>
            <p:cNvPr id="32" name="object 32"/>
            <p:cNvSpPr/>
            <p:nvPr/>
          </p:nvSpPr>
          <p:spPr>
            <a:xfrm>
              <a:off x="797100" y="4616048"/>
              <a:ext cx="5486400" cy="1515745"/>
            </a:xfrm>
            <a:custGeom>
              <a:avLst/>
              <a:gdLst/>
              <a:ahLst/>
              <a:cxnLst/>
              <a:rect l="l" t="t" r="r" b="b"/>
              <a:pathLst>
                <a:path w="5486400" h="1515745">
                  <a:moveTo>
                    <a:pt x="5233844" y="1515299"/>
                  </a:moveTo>
                  <a:lnTo>
                    <a:pt x="0" y="1515299"/>
                  </a:lnTo>
                  <a:lnTo>
                    <a:pt x="0" y="252554"/>
                  </a:lnTo>
                  <a:lnTo>
                    <a:pt x="4069" y="207157"/>
                  </a:lnTo>
                  <a:lnTo>
                    <a:pt x="15800" y="164430"/>
                  </a:lnTo>
                  <a:lnTo>
                    <a:pt x="34481" y="125085"/>
                  </a:lnTo>
                  <a:lnTo>
                    <a:pt x="59397" y="89836"/>
                  </a:lnTo>
                  <a:lnTo>
                    <a:pt x="89837" y="59397"/>
                  </a:lnTo>
                  <a:lnTo>
                    <a:pt x="125085" y="34481"/>
                  </a:lnTo>
                  <a:lnTo>
                    <a:pt x="164430" y="15800"/>
                  </a:lnTo>
                  <a:lnTo>
                    <a:pt x="207157" y="4068"/>
                  </a:lnTo>
                  <a:lnTo>
                    <a:pt x="252555" y="0"/>
                  </a:lnTo>
                  <a:lnTo>
                    <a:pt x="5486399" y="0"/>
                  </a:lnTo>
                  <a:lnTo>
                    <a:pt x="5486399" y="1262744"/>
                  </a:lnTo>
                  <a:lnTo>
                    <a:pt x="5482330" y="1308141"/>
                  </a:lnTo>
                  <a:lnTo>
                    <a:pt x="5470599" y="1350869"/>
                  </a:lnTo>
                  <a:lnTo>
                    <a:pt x="5451918" y="1390214"/>
                  </a:lnTo>
                  <a:lnTo>
                    <a:pt x="5427002" y="1425462"/>
                  </a:lnTo>
                  <a:lnTo>
                    <a:pt x="5396563" y="1455902"/>
                  </a:lnTo>
                  <a:lnTo>
                    <a:pt x="5361314" y="1480818"/>
                  </a:lnTo>
                  <a:lnTo>
                    <a:pt x="5321969" y="1499499"/>
                  </a:lnTo>
                  <a:lnTo>
                    <a:pt x="5279242" y="1511230"/>
                  </a:lnTo>
                  <a:lnTo>
                    <a:pt x="5233844" y="1515299"/>
                  </a:lnTo>
                  <a:close/>
                </a:path>
              </a:pathLst>
            </a:custGeom>
            <a:solidFill>
              <a:srgbClr val="6C9E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97054" y="4616048"/>
              <a:ext cx="5487035" cy="1515745"/>
            </a:xfrm>
            <a:custGeom>
              <a:avLst/>
              <a:gdLst/>
              <a:ahLst/>
              <a:cxnLst/>
              <a:rect l="l" t="t" r="r" b="b"/>
              <a:pathLst>
                <a:path w="5487035" h="1515745">
                  <a:moveTo>
                    <a:pt x="252600" y="0"/>
                  </a:moveTo>
                  <a:lnTo>
                    <a:pt x="5486445" y="0"/>
                  </a:lnTo>
                  <a:lnTo>
                    <a:pt x="5486445" y="1262744"/>
                  </a:lnTo>
                  <a:lnTo>
                    <a:pt x="5482376" y="1308141"/>
                  </a:lnTo>
                  <a:lnTo>
                    <a:pt x="5470645" y="1350869"/>
                  </a:lnTo>
                  <a:lnTo>
                    <a:pt x="5451964" y="1390214"/>
                  </a:lnTo>
                  <a:lnTo>
                    <a:pt x="5427047" y="1425462"/>
                  </a:lnTo>
                  <a:lnTo>
                    <a:pt x="5396608" y="1455902"/>
                  </a:lnTo>
                  <a:lnTo>
                    <a:pt x="5361360" y="1480818"/>
                  </a:lnTo>
                  <a:lnTo>
                    <a:pt x="5322015" y="1499499"/>
                  </a:lnTo>
                  <a:lnTo>
                    <a:pt x="5279287" y="1511230"/>
                  </a:lnTo>
                  <a:lnTo>
                    <a:pt x="5233890" y="1515299"/>
                  </a:lnTo>
                  <a:lnTo>
                    <a:pt x="45" y="1515299"/>
                  </a:lnTo>
                  <a:lnTo>
                    <a:pt x="45" y="252554"/>
                  </a:lnTo>
                  <a:lnTo>
                    <a:pt x="4114" y="207157"/>
                  </a:lnTo>
                  <a:lnTo>
                    <a:pt x="15846" y="164430"/>
                  </a:lnTo>
                  <a:lnTo>
                    <a:pt x="34526" y="125085"/>
                  </a:lnTo>
                  <a:lnTo>
                    <a:pt x="59443" y="89836"/>
                  </a:lnTo>
                  <a:lnTo>
                    <a:pt x="89882" y="59397"/>
                  </a:lnTo>
                  <a:lnTo>
                    <a:pt x="125131" y="34481"/>
                  </a:lnTo>
                  <a:lnTo>
                    <a:pt x="164476" y="15800"/>
                  </a:lnTo>
                  <a:lnTo>
                    <a:pt x="207203" y="4068"/>
                  </a:lnTo>
                  <a:lnTo>
                    <a:pt x="252600" y="0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919972" y="4066523"/>
            <a:ext cx="5230495" cy="910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lang="en-IN" sz="1400" b="1" spc="-10" dirty="0">
                <a:latin typeface="Times New Roman"/>
                <a:cs typeface="Times New Roman"/>
              </a:rPr>
              <a:t>Government &amp; Regulatory Authorities:</a:t>
            </a:r>
            <a:endParaRPr sz="1400" dirty="0">
              <a:latin typeface="Times New Roman"/>
              <a:cs typeface="Times New Roman"/>
            </a:endParaRPr>
          </a:p>
          <a:p>
            <a:pPr marL="355600" marR="5080" indent="-273050">
              <a:lnSpc>
                <a:spcPts val="1650"/>
              </a:lnSpc>
              <a:spcBef>
                <a:spcPts val="65"/>
              </a:spcBef>
              <a:buFont typeface="Microsoft Sans Serif"/>
              <a:buChar char="●"/>
              <a:tabLst>
                <a:tab pos="355600" algn="l"/>
                <a:tab pos="1405255" algn="l"/>
                <a:tab pos="1783714" algn="l"/>
                <a:tab pos="3009265" algn="l"/>
                <a:tab pos="3811904" algn="l"/>
                <a:tab pos="4960620" algn="l"/>
              </a:tabLst>
            </a:pPr>
            <a:r>
              <a:rPr lang="en-IN" sz="1400" spc="-10" dirty="0">
                <a:latin typeface="Times New Roman"/>
                <a:cs typeface="Times New Roman"/>
              </a:rPr>
              <a:t>Easier compliance with mining safety laws.</a:t>
            </a:r>
          </a:p>
          <a:p>
            <a:pPr marL="355600" marR="5080" indent="-273050">
              <a:lnSpc>
                <a:spcPts val="1650"/>
              </a:lnSpc>
              <a:spcBef>
                <a:spcPts val="65"/>
              </a:spcBef>
              <a:buFont typeface="Microsoft Sans Serif"/>
              <a:buChar char="●"/>
              <a:tabLst>
                <a:tab pos="355600" algn="l"/>
                <a:tab pos="1405255" algn="l"/>
                <a:tab pos="1783714" algn="l"/>
                <a:tab pos="3009265" algn="l"/>
                <a:tab pos="3811904" algn="l"/>
                <a:tab pos="4960620" algn="l"/>
              </a:tabLst>
            </a:pPr>
            <a:r>
              <a:rPr lang="en-IN" sz="1400" spc="-10" dirty="0">
                <a:latin typeface="Times New Roman"/>
                <a:cs typeface="Times New Roman"/>
              </a:rPr>
              <a:t>Transparent monitoring via centralized data reports.</a:t>
            </a:r>
          </a:p>
          <a:p>
            <a:pPr marL="355600" marR="5080" indent="-273050">
              <a:lnSpc>
                <a:spcPts val="1650"/>
              </a:lnSpc>
              <a:spcBef>
                <a:spcPts val="65"/>
              </a:spcBef>
              <a:buFont typeface="Microsoft Sans Serif"/>
              <a:buChar char="●"/>
              <a:tabLst>
                <a:tab pos="355600" algn="l"/>
                <a:tab pos="1405255" algn="l"/>
                <a:tab pos="1783714" algn="l"/>
                <a:tab pos="3009265" algn="l"/>
                <a:tab pos="3811904" algn="l"/>
                <a:tab pos="4960620" algn="l"/>
              </a:tabLst>
            </a:pPr>
            <a:r>
              <a:rPr lang="en-IN" sz="1400" spc="-10" dirty="0">
                <a:latin typeface="Times New Roman"/>
                <a:cs typeface="Times New Roman"/>
              </a:rPr>
              <a:t> Data helps improve mining safety policies.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59B2DF6-9465-F5FF-EDDF-B5C89D08D1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89"/>
          <a:stretch>
            <a:fillRect/>
          </a:stretch>
        </p:blipFill>
        <p:spPr>
          <a:xfrm>
            <a:off x="112939" y="101012"/>
            <a:ext cx="1500754" cy="97140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1B86D59-DE0C-BC68-3A87-2B4CBAD8D5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0" t="4445" r="3333" b="2533"/>
          <a:stretch>
            <a:fillRect/>
          </a:stretch>
        </p:blipFill>
        <p:spPr>
          <a:xfrm>
            <a:off x="6629400" y="1365735"/>
            <a:ext cx="5205978" cy="4897978"/>
          </a:xfrm>
          <a:prstGeom prst="rect">
            <a:avLst/>
          </a:prstGeom>
        </p:spPr>
      </p:pic>
      <p:grpSp>
        <p:nvGrpSpPr>
          <p:cNvPr id="38" name="object 21">
            <a:extLst>
              <a:ext uri="{FF2B5EF4-FFF2-40B4-BE49-F238E27FC236}">
                <a16:creationId xmlns:a16="http://schemas.microsoft.com/office/drawing/2014/main" id="{BA753C6F-D4D1-9C16-D11B-CB7016694CFD}"/>
              </a:ext>
            </a:extLst>
          </p:cNvPr>
          <p:cNvGrpSpPr/>
          <p:nvPr/>
        </p:nvGrpSpPr>
        <p:grpSpPr>
          <a:xfrm>
            <a:off x="754079" y="5154391"/>
            <a:ext cx="5476893" cy="1070209"/>
            <a:chOff x="797054" y="1746720"/>
            <a:chExt cx="5487035" cy="1409066"/>
          </a:xfrm>
        </p:grpSpPr>
        <p:sp>
          <p:nvSpPr>
            <p:cNvPr id="39" name="object 22">
              <a:extLst>
                <a:ext uri="{FF2B5EF4-FFF2-40B4-BE49-F238E27FC236}">
                  <a16:creationId xmlns:a16="http://schemas.microsoft.com/office/drawing/2014/main" id="{42EEF65B-B0A7-9A48-C737-44EA2038ED21}"/>
                </a:ext>
              </a:extLst>
            </p:cNvPr>
            <p:cNvSpPr/>
            <p:nvPr/>
          </p:nvSpPr>
          <p:spPr>
            <a:xfrm>
              <a:off x="797100" y="1746720"/>
              <a:ext cx="5486400" cy="1409066"/>
            </a:xfrm>
            <a:custGeom>
              <a:avLst/>
              <a:gdLst/>
              <a:ahLst/>
              <a:cxnLst/>
              <a:rect l="l" t="t" r="r" b="b"/>
              <a:pathLst>
                <a:path w="5486400" h="1409064">
                  <a:moveTo>
                    <a:pt x="5251595" y="1408799"/>
                  </a:moveTo>
                  <a:lnTo>
                    <a:pt x="0" y="1408799"/>
                  </a:lnTo>
                  <a:lnTo>
                    <a:pt x="0" y="234804"/>
                  </a:lnTo>
                  <a:lnTo>
                    <a:pt x="4770" y="187483"/>
                  </a:lnTo>
                  <a:lnTo>
                    <a:pt x="18452" y="143408"/>
                  </a:lnTo>
                  <a:lnTo>
                    <a:pt x="40100" y="103523"/>
                  </a:lnTo>
                  <a:lnTo>
                    <a:pt x="68772" y="68772"/>
                  </a:lnTo>
                  <a:lnTo>
                    <a:pt x="103523" y="40100"/>
                  </a:lnTo>
                  <a:lnTo>
                    <a:pt x="143408" y="18452"/>
                  </a:lnTo>
                  <a:lnTo>
                    <a:pt x="187483" y="4770"/>
                  </a:lnTo>
                  <a:lnTo>
                    <a:pt x="234804" y="0"/>
                  </a:lnTo>
                  <a:lnTo>
                    <a:pt x="5486399" y="0"/>
                  </a:lnTo>
                  <a:lnTo>
                    <a:pt x="5486399" y="1173995"/>
                  </a:lnTo>
                  <a:lnTo>
                    <a:pt x="5481629" y="1221316"/>
                  </a:lnTo>
                  <a:lnTo>
                    <a:pt x="5467947" y="1265391"/>
                  </a:lnTo>
                  <a:lnTo>
                    <a:pt x="5446298" y="1305276"/>
                  </a:lnTo>
                  <a:lnTo>
                    <a:pt x="5417627" y="1340027"/>
                  </a:lnTo>
                  <a:lnTo>
                    <a:pt x="5382876" y="1368699"/>
                  </a:lnTo>
                  <a:lnTo>
                    <a:pt x="5342991" y="1390347"/>
                  </a:lnTo>
                  <a:lnTo>
                    <a:pt x="5298916" y="1404029"/>
                  </a:lnTo>
                  <a:lnTo>
                    <a:pt x="5251595" y="1408799"/>
                  </a:lnTo>
                  <a:close/>
                </a:path>
              </a:pathLst>
            </a:custGeom>
            <a:solidFill>
              <a:srgbClr val="73C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23">
              <a:extLst>
                <a:ext uri="{FF2B5EF4-FFF2-40B4-BE49-F238E27FC236}">
                  <a16:creationId xmlns:a16="http://schemas.microsoft.com/office/drawing/2014/main" id="{4BFB5529-37BA-C46F-1D65-7480EAFC1C9E}"/>
                </a:ext>
              </a:extLst>
            </p:cNvPr>
            <p:cNvSpPr/>
            <p:nvPr/>
          </p:nvSpPr>
          <p:spPr>
            <a:xfrm>
              <a:off x="797054" y="1746720"/>
              <a:ext cx="5487035" cy="1409065"/>
            </a:xfrm>
            <a:custGeom>
              <a:avLst/>
              <a:gdLst/>
              <a:ahLst/>
              <a:cxnLst/>
              <a:rect l="l" t="t" r="r" b="b"/>
              <a:pathLst>
                <a:path w="5487035" h="1409064">
                  <a:moveTo>
                    <a:pt x="234850" y="0"/>
                  </a:moveTo>
                  <a:lnTo>
                    <a:pt x="5486445" y="0"/>
                  </a:lnTo>
                  <a:lnTo>
                    <a:pt x="5486445" y="1173995"/>
                  </a:lnTo>
                  <a:lnTo>
                    <a:pt x="5481675" y="1221316"/>
                  </a:lnTo>
                  <a:lnTo>
                    <a:pt x="5467993" y="1265391"/>
                  </a:lnTo>
                  <a:lnTo>
                    <a:pt x="5446344" y="1305276"/>
                  </a:lnTo>
                  <a:lnTo>
                    <a:pt x="5417672" y="1340027"/>
                  </a:lnTo>
                  <a:lnTo>
                    <a:pt x="5382922" y="1368699"/>
                  </a:lnTo>
                  <a:lnTo>
                    <a:pt x="5343037" y="1390347"/>
                  </a:lnTo>
                  <a:lnTo>
                    <a:pt x="5298962" y="1404029"/>
                  </a:lnTo>
                  <a:lnTo>
                    <a:pt x="5251640" y="1408799"/>
                  </a:lnTo>
                  <a:lnTo>
                    <a:pt x="45" y="1408799"/>
                  </a:lnTo>
                  <a:lnTo>
                    <a:pt x="45" y="234804"/>
                  </a:lnTo>
                  <a:lnTo>
                    <a:pt x="4816" y="187483"/>
                  </a:lnTo>
                  <a:lnTo>
                    <a:pt x="18497" y="143408"/>
                  </a:lnTo>
                  <a:lnTo>
                    <a:pt x="40146" y="103523"/>
                  </a:lnTo>
                  <a:lnTo>
                    <a:pt x="68818" y="68772"/>
                  </a:lnTo>
                  <a:lnTo>
                    <a:pt x="103568" y="40100"/>
                  </a:lnTo>
                  <a:lnTo>
                    <a:pt x="143453" y="18452"/>
                  </a:lnTo>
                  <a:lnTo>
                    <a:pt x="187529" y="4770"/>
                  </a:lnTo>
                  <a:lnTo>
                    <a:pt x="234850" y="0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1" name="Picture 2" descr="https://www.sih.gov.in/img1/SIH-Logo.png">
            <a:extLst>
              <a:ext uri="{FF2B5EF4-FFF2-40B4-BE49-F238E27FC236}">
                <a16:creationId xmlns:a16="http://schemas.microsoft.com/office/drawing/2014/main" id="{5B17DA81-08DC-2660-6399-9AE1B61FC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object 34">
            <a:extLst>
              <a:ext uri="{FF2B5EF4-FFF2-40B4-BE49-F238E27FC236}">
                <a16:creationId xmlns:a16="http://schemas.microsoft.com/office/drawing/2014/main" id="{06851D94-0FD3-57CD-E625-69781C3AA67E}"/>
              </a:ext>
            </a:extLst>
          </p:cNvPr>
          <p:cNvSpPr txBox="1"/>
          <p:nvPr/>
        </p:nvSpPr>
        <p:spPr>
          <a:xfrm>
            <a:off x="919846" y="5234019"/>
            <a:ext cx="5230495" cy="910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lang="en-IN" sz="1400" b="1" spc="-10" dirty="0">
                <a:latin typeface="Times New Roman"/>
                <a:cs typeface="Times New Roman"/>
              </a:rPr>
              <a:t>Local Communities &amp; Families:</a:t>
            </a:r>
            <a:endParaRPr sz="1400" dirty="0">
              <a:latin typeface="Times New Roman"/>
              <a:cs typeface="Times New Roman"/>
            </a:endParaRPr>
          </a:p>
          <a:p>
            <a:pPr marL="355600" marR="5080" indent="-273050">
              <a:lnSpc>
                <a:spcPts val="1650"/>
              </a:lnSpc>
              <a:spcBef>
                <a:spcPts val="65"/>
              </a:spcBef>
              <a:buFont typeface="Microsoft Sans Serif"/>
              <a:buChar char="●"/>
              <a:tabLst>
                <a:tab pos="355600" algn="l"/>
                <a:tab pos="1405255" algn="l"/>
                <a:tab pos="1783714" algn="l"/>
                <a:tab pos="3009265" algn="l"/>
                <a:tab pos="3811904" algn="l"/>
                <a:tab pos="4960620" algn="l"/>
              </a:tabLst>
            </a:pPr>
            <a:r>
              <a:rPr lang="en-IN" sz="1400" spc="-10" dirty="0">
                <a:latin typeface="Times New Roman"/>
                <a:cs typeface="Times New Roman"/>
              </a:rPr>
              <a:t>Safer environment with fewer disasters.</a:t>
            </a:r>
          </a:p>
          <a:p>
            <a:pPr marL="355600" marR="5080" indent="-273050">
              <a:lnSpc>
                <a:spcPts val="1650"/>
              </a:lnSpc>
              <a:spcBef>
                <a:spcPts val="65"/>
              </a:spcBef>
              <a:buFont typeface="Microsoft Sans Serif"/>
              <a:buChar char="●"/>
              <a:tabLst>
                <a:tab pos="355600" algn="l"/>
                <a:tab pos="1405255" algn="l"/>
                <a:tab pos="1783714" algn="l"/>
                <a:tab pos="3009265" algn="l"/>
                <a:tab pos="3811904" algn="l"/>
                <a:tab pos="4960620" algn="l"/>
              </a:tabLst>
            </a:pPr>
            <a:r>
              <a:rPr lang="en-IN" sz="1400" spc="-10" dirty="0">
                <a:latin typeface="Times New Roman"/>
                <a:cs typeface="Times New Roman"/>
              </a:rPr>
              <a:t>Peace of mind for workers’ families.</a:t>
            </a:r>
          </a:p>
          <a:p>
            <a:pPr marL="355600" marR="5080" indent="-273050">
              <a:lnSpc>
                <a:spcPts val="1650"/>
              </a:lnSpc>
              <a:spcBef>
                <a:spcPts val="65"/>
              </a:spcBef>
              <a:buFont typeface="Microsoft Sans Serif"/>
              <a:buChar char="●"/>
              <a:tabLst>
                <a:tab pos="355600" algn="l"/>
                <a:tab pos="1405255" algn="l"/>
                <a:tab pos="1783714" algn="l"/>
                <a:tab pos="3009265" algn="l"/>
                <a:tab pos="3811904" algn="l"/>
                <a:tab pos="4960620" algn="l"/>
              </a:tabLst>
            </a:pPr>
            <a:r>
              <a:rPr lang="en-IN" sz="1400" spc="-10" dirty="0">
                <a:latin typeface="Times New Roman"/>
                <a:cs typeface="Times New Roman"/>
              </a:rPr>
              <a:t> Stronger social &amp; economic stability in mining regions.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54762"/>
            <a:ext cx="12192000" cy="503555"/>
            <a:chOff x="0" y="6354762"/>
            <a:chExt cx="12192000" cy="5035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77762"/>
              <a:ext cx="12192000" cy="48023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354762"/>
              <a:ext cx="12192000" cy="503555"/>
            </a:xfrm>
            <a:custGeom>
              <a:avLst/>
              <a:gdLst/>
              <a:ahLst/>
              <a:cxnLst/>
              <a:rect l="l" t="t" r="r" b="b"/>
              <a:pathLst>
                <a:path w="12192000" h="503554">
                  <a:moveTo>
                    <a:pt x="12191999" y="503099"/>
                  </a:moveTo>
                  <a:lnTo>
                    <a:pt x="0" y="5030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503099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21929" y="218566"/>
            <a:ext cx="69443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53360" algn="l"/>
              </a:tabLst>
            </a:pPr>
            <a:r>
              <a:rPr spc="-10" dirty="0"/>
              <a:t>RESEARCH</a:t>
            </a:r>
            <a:r>
              <a:rPr dirty="0"/>
              <a:t>	AND</a:t>
            </a:r>
            <a:r>
              <a:rPr spc="-15" dirty="0"/>
              <a:t> </a:t>
            </a:r>
            <a:r>
              <a:rPr spc="-10" dirty="0"/>
              <a:t>REFERENCES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845137" y="1337387"/>
            <a:ext cx="10502265" cy="4666981"/>
            <a:chOff x="845137" y="1337388"/>
            <a:chExt cx="10502265" cy="3067050"/>
          </a:xfrm>
        </p:grpSpPr>
        <p:sp>
          <p:nvSpPr>
            <p:cNvPr id="9" name="object 9"/>
            <p:cNvSpPr/>
            <p:nvPr/>
          </p:nvSpPr>
          <p:spPr>
            <a:xfrm>
              <a:off x="849899" y="1342150"/>
              <a:ext cx="10492740" cy="3057525"/>
            </a:xfrm>
            <a:custGeom>
              <a:avLst/>
              <a:gdLst/>
              <a:ahLst/>
              <a:cxnLst/>
              <a:rect l="l" t="t" r="r" b="b"/>
              <a:pathLst>
                <a:path w="10492740" h="3057525">
                  <a:moveTo>
                    <a:pt x="0" y="0"/>
                  </a:moveTo>
                  <a:lnTo>
                    <a:pt x="10492199" y="0"/>
                  </a:lnTo>
                  <a:lnTo>
                    <a:pt x="10492199" y="3056999"/>
                  </a:lnTo>
                  <a:lnTo>
                    <a:pt x="0" y="3056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36978" y="1949856"/>
              <a:ext cx="6518275" cy="2068830"/>
            </a:xfrm>
            <a:custGeom>
              <a:avLst/>
              <a:gdLst/>
              <a:ahLst/>
              <a:cxnLst/>
              <a:rect l="l" t="t" r="r" b="b"/>
              <a:pathLst>
                <a:path w="6518275" h="2068829">
                  <a:moveTo>
                    <a:pt x="47625" y="1840230"/>
                  </a:moveTo>
                  <a:lnTo>
                    <a:pt x="0" y="1840230"/>
                  </a:lnTo>
                  <a:lnTo>
                    <a:pt x="0" y="2068830"/>
                  </a:lnTo>
                  <a:lnTo>
                    <a:pt x="47625" y="2068830"/>
                  </a:lnTo>
                  <a:lnTo>
                    <a:pt x="47625" y="1840230"/>
                  </a:lnTo>
                  <a:close/>
                </a:path>
                <a:path w="6518275" h="2068829">
                  <a:moveTo>
                    <a:pt x="6518199" y="0"/>
                  </a:moveTo>
                  <a:lnTo>
                    <a:pt x="6470574" y="0"/>
                  </a:lnTo>
                  <a:lnTo>
                    <a:pt x="6470574" y="228600"/>
                  </a:lnTo>
                  <a:lnTo>
                    <a:pt x="6518199" y="228600"/>
                  </a:lnTo>
                  <a:lnTo>
                    <a:pt x="6518199" y="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3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xfrm>
            <a:off x="905699" y="1406538"/>
            <a:ext cx="10344785" cy="41062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767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462915" algn="l"/>
              </a:tabLst>
            </a:pPr>
            <a:endParaRPr lang="en-US" sz="1500" dirty="0">
              <a:latin typeface="Times New Roman"/>
              <a:cs typeface="Times New Roman"/>
            </a:endParaRPr>
          </a:p>
          <a:p>
            <a:pPr marL="462915" indent="-450215">
              <a:lnSpc>
                <a:spcPct val="100000"/>
              </a:lnSpc>
              <a:spcBef>
                <a:spcPts val="5"/>
              </a:spcBef>
              <a:buFont typeface="+mj-lt"/>
              <a:buAutoNum type="arabicPeriod"/>
              <a:tabLst>
                <a:tab pos="462915" algn="l"/>
              </a:tabLst>
            </a:pPr>
            <a:r>
              <a:rPr lang="en-US" sz="1800" b="0" dirty="0">
                <a:solidFill>
                  <a:schemeClr val="tx1"/>
                </a:solidFill>
                <a:latin typeface="Times New Roman"/>
                <a:cs typeface="Times New Roman"/>
              </a:rPr>
              <a:t>1.  M. Senanayake, G. J. N. L. P. D. S. D. G. T. H. C. Jayawardana and S. D. G. T. H. C. J. H. L. G. D. M. S. C. J. K. U. V. D. S. C. Jayawardana, </a:t>
            </a:r>
            <a:r>
              <a:rPr lang="en-US" sz="1800" b="0" u="sng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"Prediction of rockfall hazard in open pit mines using a regression based machine learning model,"</a:t>
            </a:r>
            <a:r>
              <a:rPr lang="en-US" sz="1800" b="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chemeClr val="tx1"/>
                </a:solidFill>
                <a:latin typeface="Times New Roman"/>
                <a:cs typeface="Times New Roman"/>
              </a:rPr>
              <a:t>*Journal of The Institution of Engineers, Sri Lanka*, vol. 57, no. 1, pp. 24–33, 2024.</a:t>
            </a:r>
          </a:p>
          <a:p>
            <a:pPr marL="462915" indent="-450215">
              <a:lnSpc>
                <a:spcPct val="100000"/>
              </a:lnSpc>
              <a:spcBef>
                <a:spcPts val="5"/>
              </a:spcBef>
              <a:buFont typeface="+mj-lt"/>
              <a:buAutoNum type="arabicPeriod"/>
              <a:tabLst>
                <a:tab pos="462915" algn="l"/>
              </a:tabLst>
            </a:pPr>
            <a:r>
              <a:rPr lang="en-US" sz="1800" b="0" dirty="0">
                <a:solidFill>
                  <a:schemeClr val="tx1"/>
                </a:solidFill>
                <a:latin typeface="Times New Roman"/>
                <a:cs typeface="Times New Roman"/>
              </a:rPr>
              <a:t>L. Qing, Y. Lu, Y. Hu, and C. Liu</a:t>
            </a:r>
            <a:r>
              <a:rPr lang="en-US" sz="1800" b="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, </a:t>
            </a:r>
            <a:r>
              <a:rPr lang="en-US" sz="1800" b="0" u="sng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"Intelligent Prediction and Numerical Simulation of Landslide Prediction in Open-Pit Mines Based on Multi-Source Data Fusion and Machine Learning," </a:t>
            </a:r>
            <a:r>
              <a:rPr lang="en-US" sz="1800" b="0" dirty="0">
                <a:solidFill>
                  <a:schemeClr val="tx1"/>
                </a:solidFill>
                <a:latin typeface="Times New Roman"/>
                <a:cs typeface="Times New Roman"/>
              </a:rPr>
              <a:t>*Sensors*, vol. 25, no. 10, p. 3131, 2025.</a:t>
            </a:r>
          </a:p>
          <a:p>
            <a:pPr marL="462915" indent="-450215">
              <a:lnSpc>
                <a:spcPct val="100000"/>
              </a:lnSpc>
              <a:spcBef>
                <a:spcPts val="5"/>
              </a:spcBef>
              <a:buFont typeface="+mj-lt"/>
              <a:buAutoNum type="arabicPeriod"/>
              <a:tabLst>
                <a:tab pos="462915" algn="l"/>
              </a:tabLst>
            </a:pPr>
            <a:r>
              <a:rPr lang="en-US" sz="1800" b="0" dirty="0">
                <a:solidFill>
                  <a:schemeClr val="tx1"/>
                </a:solidFill>
                <a:latin typeface="Times New Roman"/>
                <a:cs typeface="Times New Roman"/>
              </a:rPr>
              <a:t>J. R. Andrew, H. J. Hume, R. Bartingale, and A. Rock, </a:t>
            </a:r>
            <a:r>
              <a:rPr lang="en-US" sz="1800" b="0" u="sng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"Observation of Rockfall in the Thermal Infrared."</a:t>
            </a:r>
            <a:r>
              <a:rPr lang="en-US" sz="1800" b="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chemeClr val="tx1"/>
                </a:solidFill>
                <a:latin typeface="Times New Roman"/>
                <a:cs typeface="Times New Roman"/>
              </a:rPr>
              <a:t>*ResearchGate*, 2024.</a:t>
            </a:r>
          </a:p>
          <a:p>
            <a:pPr marL="462915" indent="-450215">
              <a:lnSpc>
                <a:spcPct val="100000"/>
              </a:lnSpc>
              <a:spcBef>
                <a:spcPts val="5"/>
              </a:spcBef>
              <a:buFont typeface="+mj-lt"/>
              <a:buAutoNum type="arabicPeriod"/>
              <a:tabLst>
                <a:tab pos="462915" algn="l"/>
              </a:tabLst>
            </a:pPr>
            <a:r>
              <a:rPr lang="en-US" sz="1800" b="0" dirty="0">
                <a:solidFill>
                  <a:schemeClr val="tx1"/>
                </a:solidFill>
                <a:latin typeface="Times New Roman"/>
                <a:cs typeface="Times New Roman"/>
              </a:rPr>
              <a:t>D. H. Kim and I. Gratchev</a:t>
            </a:r>
            <a:r>
              <a:rPr lang="en-US" sz="1800" b="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, </a:t>
            </a:r>
            <a:r>
              <a:rPr lang="en-US" sz="1800" b="0" u="sng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"Application of Optical Flow Technique and Photogrammetry for Rockfall Dynamics: A Case Study on a Field Test," </a:t>
            </a:r>
            <a:r>
              <a:rPr lang="en-US" sz="1800" b="0" dirty="0">
                <a:solidFill>
                  <a:schemeClr val="tx1"/>
                </a:solidFill>
                <a:latin typeface="Times New Roman"/>
                <a:cs typeface="Times New Roman"/>
              </a:rPr>
              <a:t>*Remote Sensing*, vol. 13, no. 20, p. 4124, 2021.</a:t>
            </a:r>
          </a:p>
          <a:p>
            <a:pPr marL="462915" indent="-450215">
              <a:lnSpc>
                <a:spcPct val="100000"/>
              </a:lnSpc>
              <a:spcBef>
                <a:spcPts val="5"/>
              </a:spcBef>
              <a:buFont typeface="+mj-lt"/>
              <a:buAutoNum type="arabicPeriod"/>
              <a:tabLst>
                <a:tab pos="462915" algn="l"/>
              </a:tabLst>
            </a:pPr>
            <a:r>
              <a:rPr lang="en-US" sz="1800" b="0" dirty="0">
                <a:solidFill>
                  <a:schemeClr val="tx1"/>
                </a:solidFill>
                <a:latin typeface="Times New Roman"/>
                <a:cs typeface="Times New Roman"/>
              </a:rPr>
              <a:t>M. Ghahramanieisalou and J. Sattarvand</a:t>
            </a:r>
            <a:r>
              <a:rPr lang="en-US" sz="1800" b="0" u="sng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, "Rockfall Dynamics Prediction Using Data-Driven Approaches: A Lab-Scale Study," </a:t>
            </a:r>
            <a:r>
              <a:rPr lang="en-US" sz="1800" b="0" dirty="0">
                <a:solidFill>
                  <a:schemeClr val="tx1"/>
                </a:solidFill>
                <a:latin typeface="Times New Roman"/>
                <a:cs typeface="Times New Roman"/>
              </a:rPr>
              <a:t>*Geotechnics*, vol. 5, no. 1, p. 13, 2025.</a:t>
            </a:r>
            <a:endParaRPr sz="1800" b="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EE1DDA-A210-83EC-8ADC-07D23A70DF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91"/>
          <a:stretch>
            <a:fillRect/>
          </a:stretch>
        </p:blipFill>
        <p:spPr>
          <a:xfrm>
            <a:off x="116563" y="52322"/>
            <a:ext cx="1466672" cy="934669"/>
          </a:xfrm>
          <a:prstGeom prst="rect">
            <a:avLst/>
          </a:prstGeom>
        </p:spPr>
      </p:pic>
      <p:pic>
        <p:nvPicPr>
          <p:cNvPr id="11" name="Picture 2" descr="https://www.sih.gov.in/img1/SIH-Logo.png">
            <a:extLst>
              <a:ext uri="{FF2B5EF4-FFF2-40B4-BE49-F238E27FC236}">
                <a16:creationId xmlns:a16="http://schemas.microsoft.com/office/drawing/2014/main" id="{162F226F-1F86-1C36-4F83-FD73A27DC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444</TotalTime>
  <Words>1021</Words>
  <Application>Microsoft Office PowerPoint</Application>
  <PresentationFormat>Widescreen</PresentationFormat>
  <Paragraphs>143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Microsoft Sans Serif</vt:lpstr>
      <vt:lpstr>Times New Roman</vt:lpstr>
      <vt:lpstr>Office Theme</vt:lpstr>
      <vt:lpstr>SMART INDIA HACKATHON 2025</vt:lpstr>
      <vt:lpstr>AYUSHSetu(आयुषसेतु)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SIH_1724_CODING GURUS.pptx</dc:title>
  <cp:lastModifiedBy>dhruvkadam31yt@gmail.com</cp:lastModifiedBy>
  <cp:revision>6</cp:revision>
  <dcterms:created xsi:type="dcterms:W3CDTF">2025-09-11T14:04:56Z</dcterms:created>
  <dcterms:modified xsi:type="dcterms:W3CDTF">2025-09-14T17:32:50Z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2025-09-11T00:00:00Z</vt:filetime>
  </property>
  <property fmtid="{D5CDD505-2E9C-101B-9397-08002B2CF9AE}" pid="3" name="Creator">
    <vt:lpwstr>Google</vt:lpwstr>
  </property>
  <property fmtid="{D5CDD505-2E9C-101B-9397-08002B2CF9AE}" pid="4" name="LastSaved">
    <vt:filetime>2025-09-11T00:00:00Z</vt:filetime>
  </property>
</Properties>
</file>